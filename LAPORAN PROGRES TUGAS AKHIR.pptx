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78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1" r:id="rId38"/>
    <p:sldId id="293" r:id="rId39"/>
    <p:sldId id="295" r:id="rId40"/>
    <p:sldId id="294" r:id="rId41"/>
    <p:sldId id="296" r:id="rId42"/>
    <p:sldId id="298" r:id="rId43"/>
    <p:sldId id="297" r:id="rId44"/>
    <p:sldId id="29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12D71-F799-457B-BE87-84AB221350DA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79201-05B9-4359-B01D-5C91C49B2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405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79201-05B9-4359-B01D-5C91C49B2321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6505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B79201-05B9-4359-B01D-5C91C49B2321}" type="slidenum">
              <a:rPr lang="en-ID" smtClean="0"/>
              <a:t>37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3002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8934-E3F3-B11C-D3DA-137F745C0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6D699-1EEA-5828-C5F6-A75951A6C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8F698-2A34-C5EE-B05C-847FDF44D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63603-78DB-B819-5A9C-24E4BD49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B08F-E371-7544-4FB0-8908D0B1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2094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F51F-1019-576D-528A-BA4F62A6F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B62FE-BE03-6876-8A89-B2C1B93CD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CBAD2-FDC7-2339-8079-E7608BC6B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C884A-EF8E-5724-4C0F-223FFD67E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B7EE5-8504-D9DA-E623-0733F945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751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5115-6D66-E7F3-D8C8-0F3C6D92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26D3C-8FE6-78A5-8401-602D6B694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A9B79-0911-6A0D-D2ED-32E1A663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8FA19-0171-279F-74FA-92DF396B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70A9-958B-D3F2-1F4C-8CA66AD5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2684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17EA-F2AD-0268-FF86-BB8E030D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19F90-D006-F8F9-48F0-76645990A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48E7C-F553-28A4-9768-E2F7B7A57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09C08-4A3F-5962-B298-5E6A1E13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727C7-AB75-C682-55C2-B341D753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7D730-0CFE-2EA9-7AA1-2434D0A8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308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3040-8521-B854-F21B-B12CF85FF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511B1-87A3-1991-5EEA-84D453BD3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8FB98-E235-EC85-8797-63AB868D2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74EB20-5466-CBE5-AB65-A3F39B0C0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B73BE-8B44-504C-88E8-9BB3A27D7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ECFC0-C92E-C1F8-081A-157E0A37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9098AA-4558-4967-1640-07D1DC0F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B8D8C-9262-403A-8E23-B064CCCB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704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745D-5031-A151-A932-698A9737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EDB83-1856-9FC4-7484-E181B4A9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97568-A959-688B-BEA5-7EC2920EF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B5F77-FA62-E74D-FD94-7C8FD5F6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1798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C3F1B-DD1F-5A00-A3A7-548303B0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A8228F-98A2-A07D-ADD0-B97F4D3A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A4065-8C21-7673-91C0-988556F1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5763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D7CC-66F2-311A-6665-A9EAD74E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4A594-5090-3969-1E4F-8ADDC40DC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E2D3E-38D8-3190-3E52-038886AFD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63E06-5FCA-718A-3BDD-DF8AA6D59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76E8A-D8E0-1AB2-8414-F1FEC6A35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5583-3B93-D2D6-F735-0F1414F6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897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4D21C-AC93-7C80-AC20-5BF96025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5E4E2-E551-6A1E-F5A6-4F7101D11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69C16-E6CE-BBFF-26C8-850561FDE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CAA98-5A49-C102-EFA9-B398A17D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6742D-5C39-BDC3-90A1-135013A30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79A59-A9CC-8D3A-8BF4-444381D0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694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D8A1-863F-1707-A3DD-B11E6603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FFB6D-7FE9-8F8D-9021-7E5845CEF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6023A-655B-D29C-7420-60B75CF4C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220E4-DA0F-8C93-5A27-E0D178051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FA7E3-E5DF-EBEE-633F-0A457223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946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3929B2-7203-3D47-E8EC-AC89CD2FE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81DEE-5CA9-E8D5-6B57-E32536265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1D21A-CCC3-C288-D089-2405C8A1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F3F1A-8842-9A68-2BB0-4FA6926E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237CF-ED00-4B51-7239-E394ADFE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8019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E30EF5-4745-BB02-D108-86616E53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4D7C1-EB2E-520F-384B-67F494EDB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65D80-A36B-1E8E-C2A8-B48EF8ABE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D536F-B06F-4321-8858-D86AEBEA7A99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4FB42-D72E-AEEE-80FA-5DBE8D759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35D96-623B-D9C8-A25B-4AF1557A2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EF3C1-DC17-48A2-80F1-5A7C5D6A566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294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A74B51-E9F6-82E2-04AF-C2B6F50E6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LAPORAN PROGRES TUGAS AKHIR (TA)</a:t>
            </a:r>
            <a:endParaRPr lang="en-ID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C6C97FF-4756-0291-8FEC-CA290E71CC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/>
              <a:t>MUKHAMMAD FAJRUL FALAQ</a:t>
            </a:r>
            <a:endParaRPr lang="en-ID" sz="2400" b="1" dirty="0"/>
          </a:p>
        </p:txBody>
      </p:sp>
    </p:spTree>
    <p:extLst>
      <p:ext uri="{BB962C8B-B14F-4D97-AF65-F5344CB8AC3E}">
        <p14:creationId xmlns:p14="http://schemas.microsoft.com/office/powerpoint/2010/main" val="3838710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B5A23D-66A7-6AF3-8F8B-CD944A77B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18" y="2136688"/>
            <a:ext cx="2509246" cy="2450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5B2103-F6BA-20B2-0A4A-EC502E7BB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718" y="2431468"/>
            <a:ext cx="3795088" cy="1860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5F4BCC-BE81-2D6D-26E6-A77D597998E7}"/>
              </a:ext>
            </a:extLst>
          </p:cNvPr>
          <p:cNvSpPr txBox="1"/>
          <p:nvPr/>
        </p:nvSpPr>
        <p:spPr>
          <a:xfrm>
            <a:off x="5019262" y="635870"/>
            <a:ext cx="2525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Saran </a:t>
            </a:r>
            <a:r>
              <a:rPr lang="en-US" sz="2400" b="1" dirty="0" err="1"/>
              <a:t>Perbaikan</a:t>
            </a:r>
            <a:endParaRPr lang="en-ID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319DA-8472-36A9-3075-FBA51D824E8A}"/>
              </a:ext>
            </a:extLst>
          </p:cNvPr>
          <p:cNvSpPr txBox="1"/>
          <p:nvPr/>
        </p:nvSpPr>
        <p:spPr>
          <a:xfrm>
            <a:off x="7073326" y="1885950"/>
            <a:ext cx="4648182" cy="2952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pada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pemotongannya</a:t>
            </a:r>
            <a:r>
              <a:rPr lang="en-ID" dirty="0"/>
              <a:t> , Logika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memotong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kali </a:t>
            </a: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persimpangan</a:t>
            </a:r>
            <a:r>
              <a:rPr lang="en-ID" dirty="0"/>
              <a:t> garis,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. </a:t>
            </a:r>
            <a:r>
              <a:rPr lang="en-ID" dirty="0" err="1"/>
              <a:t>Akibatnya</a:t>
            </a:r>
            <a:r>
              <a:rPr lang="en-ID" dirty="0"/>
              <a:t>, </a:t>
            </a:r>
            <a:r>
              <a:rPr lang="en-ID" dirty="0" err="1"/>
              <a:t>huruf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"Sin" </a:t>
            </a:r>
            <a:r>
              <a:rPr lang="en-ID" dirty="0" err="1"/>
              <a:t>justru</a:t>
            </a:r>
            <a:r>
              <a:rPr lang="en-ID" dirty="0"/>
              <a:t> </a:t>
            </a:r>
            <a:r>
              <a:rPr lang="en-ID" dirty="0" err="1"/>
              <a:t>dipotong-potong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serpihan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huruf-huruf</a:t>
            </a:r>
            <a:r>
              <a:rPr lang="en-ID" dirty="0"/>
              <a:t> yang </a:t>
            </a:r>
            <a:r>
              <a:rPr lang="en-ID" dirty="0" err="1"/>
              <a:t>berbeda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8381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79BE71-D8FA-2362-5582-33957C4CF2D8}"/>
              </a:ext>
            </a:extLst>
          </p:cNvPr>
          <p:cNvSpPr txBox="1"/>
          <p:nvPr/>
        </p:nvSpPr>
        <p:spPr>
          <a:xfrm>
            <a:off x="5290683" y="900112"/>
            <a:ext cx="1610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Perbaikan</a:t>
            </a:r>
            <a:endParaRPr lang="en-ID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F059D3-7CFC-EB7F-33E6-4D097326A5BD}"/>
              </a:ext>
            </a:extLst>
          </p:cNvPr>
          <p:cNvSpPr txBox="1"/>
          <p:nvPr/>
        </p:nvSpPr>
        <p:spPr>
          <a:xfrm>
            <a:off x="971552" y="4309109"/>
            <a:ext cx="10776922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dirty="0" err="1"/>
              <a:t>struktur</a:t>
            </a:r>
            <a:r>
              <a:rPr lang="en-ID" sz="2000" dirty="0"/>
              <a:t> </a:t>
            </a:r>
            <a:r>
              <a:rPr lang="en-ID" sz="2000" dirty="0" err="1"/>
              <a:t>huruf</a:t>
            </a:r>
            <a:r>
              <a:rPr lang="en-ID" sz="2000" dirty="0"/>
              <a:t> 'Sin' </a:t>
            </a:r>
            <a:r>
              <a:rPr lang="en-ID" sz="2000" dirty="0" err="1"/>
              <a:t>kini</a:t>
            </a:r>
            <a:r>
              <a:rPr lang="en-ID" sz="2000" dirty="0"/>
              <a:t> </a:t>
            </a:r>
            <a:r>
              <a:rPr lang="en-ID" sz="2000" dirty="0" err="1"/>
              <a:t>berhasil</a:t>
            </a:r>
            <a:r>
              <a:rPr lang="en-ID" sz="2000" dirty="0"/>
              <a:t> </a:t>
            </a:r>
            <a:r>
              <a:rPr lang="en-ID" sz="2000" dirty="0" err="1"/>
              <a:t>dipertahankan</a:t>
            </a:r>
            <a:r>
              <a:rPr lang="en-ID" sz="2000" dirty="0"/>
              <a:t> </a:t>
            </a:r>
            <a:r>
              <a:rPr lang="en-ID" sz="2000" dirty="0" err="1"/>
              <a:t>keutuhannya</a:t>
            </a:r>
            <a:r>
              <a:rPr lang="en-ID" sz="2000" dirty="0"/>
              <a:t>.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lagi</a:t>
            </a:r>
            <a:r>
              <a:rPr lang="en-ID" sz="2000" dirty="0"/>
              <a:t> </a:t>
            </a:r>
            <a:r>
              <a:rPr lang="en-ID" sz="2000" dirty="0" err="1"/>
              <a:t>memecah</a:t>
            </a:r>
            <a:r>
              <a:rPr lang="en-ID" sz="2000" dirty="0"/>
              <a:t> </a:t>
            </a:r>
            <a:r>
              <a:rPr lang="en-ID" sz="2000" dirty="0" err="1"/>
              <a:t>gigi-gigi</a:t>
            </a:r>
            <a:r>
              <a:rPr lang="en-ID" sz="2000" dirty="0"/>
              <a:t> </a:t>
            </a:r>
            <a:r>
              <a:rPr lang="en-ID" sz="2000" dirty="0" err="1"/>
              <a:t>huruf</a:t>
            </a:r>
            <a:r>
              <a:rPr lang="en-ID" sz="2000" dirty="0"/>
              <a:t>, </a:t>
            </a:r>
            <a:r>
              <a:rPr lang="en-ID" sz="2000" dirty="0" err="1"/>
              <a:t>melainkan</a:t>
            </a:r>
            <a:r>
              <a:rPr lang="en-ID" sz="2000" dirty="0"/>
              <a:t> </a:t>
            </a:r>
            <a:r>
              <a:rPr lang="en-ID" sz="2000" dirty="0" err="1"/>
              <a:t>menganggap</a:t>
            </a:r>
            <a:r>
              <a:rPr lang="en-ID" sz="2000" dirty="0"/>
              <a:t> </a:t>
            </a:r>
            <a:r>
              <a:rPr lang="en-ID" sz="2000" dirty="0" err="1"/>
              <a:t>keseluruhan</a:t>
            </a:r>
            <a:r>
              <a:rPr lang="en-ID" sz="2000" dirty="0"/>
              <a:t> </a:t>
            </a:r>
            <a:r>
              <a:rPr lang="en-ID" sz="2000" dirty="0" err="1"/>
              <a:t>struktur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b="1" dirty="0" err="1"/>
              <a:t>satu</a:t>
            </a:r>
            <a:r>
              <a:rPr lang="en-ID" sz="2000" b="1" dirty="0"/>
              <a:t> </a:t>
            </a:r>
            <a:r>
              <a:rPr lang="en-ID" sz="2000" b="1" dirty="0" err="1"/>
              <a:t>entitas</a:t>
            </a:r>
            <a:r>
              <a:rPr lang="en-ID" sz="2000" b="1" dirty="0"/>
              <a:t> </a:t>
            </a:r>
            <a:r>
              <a:rPr lang="en-ID" sz="2000" b="1" dirty="0" err="1"/>
              <a:t>huruf</a:t>
            </a:r>
            <a:r>
              <a:rPr lang="en-ID" sz="2000" b="1" dirty="0"/>
              <a:t> </a:t>
            </a:r>
            <a:r>
              <a:rPr lang="en-ID" sz="2000" b="1" dirty="0" err="1"/>
              <a:t>tunggal</a:t>
            </a:r>
            <a:r>
              <a:rPr lang="en-ID" sz="2000" dirty="0"/>
              <a:t> yang valid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468D1-507B-3B5B-8E03-B4C246D66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74" y="1580934"/>
            <a:ext cx="4977252" cy="246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25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839E6C-6491-8264-50C8-C359ADB63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405" y="1089710"/>
            <a:ext cx="3277206" cy="32005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CAD632-6CE2-85DD-CE71-2B727321D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76" y="1468150"/>
            <a:ext cx="4286529" cy="21019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23AE73-A6A4-1974-D877-B63F99630C8B}"/>
              </a:ext>
            </a:extLst>
          </p:cNvPr>
          <p:cNvSpPr txBox="1"/>
          <p:nvPr/>
        </p:nvSpPr>
        <p:spPr>
          <a:xfrm>
            <a:off x="5644594" y="442913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Hasil</a:t>
            </a:r>
            <a:endParaRPr lang="en-ID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05EE6-F3E7-B24E-85A5-E4242FA9D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856" y="4676019"/>
            <a:ext cx="2943457" cy="14562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B373D5-2DFD-385D-D42D-ED03A7154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98" y="4676019"/>
            <a:ext cx="2943457" cy="1456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962931-E593-90F6-8258-67B2A2579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0777" y="4676019"/>
            <a:ext cx="2943457" cy="145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19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3A9136-C659-DD7E-84B7-18AEFF6643E8}"/>
              </a:ext>
            </a:extLst>
          </p:cNvPr>
          <p:cNvSpPr txBox="1"/>
          <p:nvPr/>
        </p:nvSpPr>
        <p:spPr>
          <a:xfrm>
            <a:off x="5691882" y="2614613"/>
            <a:ext cx="80823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/>
              <a:t>2</a:t>
            </a:r>
          </a:p>
          <a:p>
            <a:endParaRPr lang="en-ID" sz="9600" b="1" dirty="0"/>
          </a:p>
        </p:txBody>
      </p:sp>
    </p:spTree>
    <p:extLst>
      <p:ext uri="{BB962C8B-B14F-4D97-AF65-F5344CB8AC3E}">
        <p14:creationId xmlns:p14="http://schemas.microsoft.com/office/powerpoint/2010/main" val="78664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429D3B-EBB4-65D2-CF8A-6458ECBEB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223" y="1258904"/>
            <a:ext cx="3129116" cy="3055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0D8065-C232-E0D2-9C29-4A78615A2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161" y="4473490"/>
            <a:ext cx="4872247" cy="196639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7C544F8-E8DA-9EB9-6AD9-65A7C97590BF}"/>
              </a:ext>
            </a:extLst>
          </p:cNvPr>
          <p:cNvSpPr/>
          <p:nvPr/>
        </p:nvSpPr>
        <p:spPr>
          <a:xfrm>
            <a:off x="5674518" y="3157537"/>
            <a:ext cx="842963" cy="5429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B131CE-EF9F-8BB3-D2F0-174C6CC11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8" y="4907057"/>
            <a:ext cx="5271342" cy="12729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ACE530-1E12-003C-84A3-600E890F9F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780" y="1262973"/>
            <a:ext cx="3112646" cy="30518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5D0053-7574-4BDC-E018-F15484965C2A}"/>
              </a:ext>
            </a:extLst>
          </p:cNvPr>
          <p:cNvSpPr txBox="1"/>
          <p:nvPr/>
        </p:nvSpPr>
        <p:spPr>
          <a:xfrm>
            <a:off x="2068010" y="409131"/>
            <a:ext cx="2100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err="1"/>
              <a:t>Sebelum</a:t>
            </a:r>
            <a:endParaRPr lang="en-ID" sz="2800" b="1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67826-EB0A-1685-A31D-626A9A6C39B9}"/>
              </a:ext>
            </a:extLst>
          </p:cNvPr>
          <p:cNvSpPr txBox="1"/>
          <p:nvPr/>
        </p:nvSpPr>
        <p:spPr>
          <a:xfrm>
            <a:off x="8882077" y="290069"/>
            <a:ext cx="2100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err="1"/>
              <a:t>Sesudah</a:t>
            </a:r>
            <a:endParaRPr lang="en-ID" sz="2800" b="1" u="sng" dirty="0"/>
          </a:p>
        </p:txBody>
      </p:sp>
    </p:spTree>
    <p:extLst>
      <p:ext uri="{BB962C8B-B14F-4D97-AF65-F5344CB8AC3E}">
        <p14:creationId xmlns:p14="http://schemas.microsoft.com/office/powerpoint/2010/main" val="922521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6FC4F9-528C-7FCF-766D-3A99FEC75C09}"/>
              </a:ext>
            </a:extLst>
          </p:cNvPr>
          <p:cNvSpPr txBox="1"/>
          <p:nvPr/>
        </p:nvSpPr>
        <p:spPr>
          <a:xfrm>
            <a:off x="966192" y="1472470"/>
            <a:ext cx="10259615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400" b="1" dirty="0" err="1"/>
              <a:t>untuk</a:t>
            </a:r>
            <a:r>
              <a:rPr lang="en-ID" sz="2400" b="1" dirty="0"/>
              <a:t> Fajrul (</a:t>
            </a:r>
            <a:r>
              <a:rPr lang="en-ID" sz="2400" b="1" dirty="0" err="1"/>
              <a:t>fokus</a:t>
            </a:r>
            <a:r>
              <a:rPr lang="en-ID" sz="2400" b="1" dirty="0"/>
              <a:t> </a:t>
            </a:r>
            <a:r>
              <a:rPr lang="en-ID" sz="2400" b="1" dirty="0" err="1"/>
              <a:t>algoritma</a:t>
            </a:r>
            <a:r>
              <a:rPr lang="en-ID" sz="2400" b="1" dirty="0"/>
              <a:t> </a:t>
            </a:r>
            <a:r>
              <a:rPr lang="en-ID" sz="2400" b="1" dirty="0" err="1"/>
              <a:t>pemotongan</a:t>
            </a:r>
            <a:r>
              <a:rPr lang="en-ID" sz="2400" b="1" dirty="0"/>
              <a:t> </a:t>
            </a:r>
            <a:r>
              <a:rPr lang="en-ID" sz="2400" b="1" dirty="0" err="1"/>
              <a:t>huruf</a:t>
            </a:r>
            <a:r>
              <a:rPr lang="en-ID" sz="2400" b="1" dirty="0"/>
              <a:t>):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/>
              <a:t>hitung</a:t>
            </a:r>
            <a:r>
              <a:rPr lang="en-ID" sz="2400" dirty="0"/>
              <a:t> </a:t>
            </a:r>
            <a:r>
              <a:rPr lang="en-ID" sz="2400" dirty="0" err="1"/>
              <a:t>jarak</a:t>
            </a:r>
            <a:r>
              <a:rPr lang="en-ID" sz="2400" dirty="0"/>
              <a:t>   masing-masing </a:t>
            </a:r>
            <a:r>
              <a:rPr lang="en-ID" sz="2400" dirty="0" err="1"/>
              <a:t>titik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titik</a:t>
            </a:r>
            <a:r>
              <a:rPr lang="en-ID" sz="2400" dirty="0"/>
              <a:t> </a:t>
            </a:r>
            <a:r>
              <a:rPr lang="en-ID" sz="2400" dirty="0" err="1"/>
              <a:t>simpangan</a:t>
            </a:r>
            <a:r>
              <a:rPr lang="en-ID" sz="2400" dirty="0"/>
              <a:t> </a:t>
            </a:r>
            <a:r>
              <a:rPr lang="en-ID" sz="2400" dirty="0" err="1"/>
              <a:t>terdekat</a:t>
            </a:r>
            <a:endParaRPr lang="en-ID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/>
              <a:t>asosiasikan</a:t>
            </a:r>
            <a:r>
              <a:rPr lang="en-ID" sz="2400" dirty="0"/>
              <a:t> </a:t>
            </a:r>
            <a:r>
              <a:rPr lang="en-ID" sz="2400" dirty="0" err="1"/>
              <a:t>diakritik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simpangan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lintasan</a:t>
            </a:r>
            <a:r>
              <a:rPr lang="en-ID" sz="2400" dirty="0"/>
              <a:t> yang </a:t>
            </a:r>
            <a:r>
              <a:rPr lang="en-ID" sz="2400" dirty="0" err="1"/>
              <a:t>panjang</a:t>
            </a:r>
            <a:r>
              <a:rPr lang="en-ID" sz="2400" dirty="0"/>
              <a:t>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/>
              <a:t>huruf</a:t>
            </a:r>
            <a:r>
              <a:rPr lang="en-ID" sz="2400" dirty="0"/>
              <a:t> </a:t>
            </a:r>
            <a:r>
              <a:rPr lang="en-ID" sz="2400" dirty="0" err="1"/>
              <a:t>dipotong</a:t>
            </a:r>
            <a:r>
              <a:rPr lang="en-ID" sz="2400" dirty="0"/>
              <a:t> </a:t>
            </a:r>
            <a:r>
              <a:rPr lang="en-ID" sz="2400" dirty="0" err="1"/>
              <a:t>berdasarkan</a:t>
            </a:r>
            <a:r>
              <a:rPr lang="en-ID" sz="2400" dirty="0"/>
              <a:t> </a:t>
            </a:r>
            <a:r>
              <a:rPr lang="en-ID" sz="2400" dirty="0" err="1"/>
              <a:t>kombinasi</a:t>
            </a:r>
            <a:r>
              <a:rPr lang="en-ID" sz="2400" dirty="0"/>
              <a:t> </a:t>
            </a:r>
            <a:r>
              <a:rPr lang="en-ID" sz="2400" dirty="0" err="1"/>
              <a:t>berapa</a:t>
            </a:r>
            <a:r>
              <a:rPr lang="en-ID" sz="2400" dirty="0"/>
              <a:t> </a:t>
            </a:r>
            <a:r>
              <a:rPr lang="en-ID" sz="2400" dirty="0" err="1"/>
              <a:t>lintasan</a:t>
            </a:r>
            <a:r>
              <a:rPr lang="en-ID" sz="2400" dirty="0"/>
              <a:t> </a:t>
            </a:r>
            <a:r>
              <a:rPr lang="en-ID" sz="2400" dirty="0" err="1"/>
              <a:t>pendek</a:t>
            </a:r>
            <a:r>
              <a:rPr lang="en-ID" sz="2400" dirty="0"/>
              <a:t> dan </a:t>
            </a:r>
            <a:r>
              <a:rPr lang="en-ID" sz="2400" dirty="0" err="1"/>
              <a:t>berapa</a:t>
            </a:r>
            <a:r>
              <a:rPr lang="en-ID" sz="2400" dirty="0"/>
              <a:t> </a:t>
            </a:r>
            <a:r>
              <a:rPr lang="en-ID" sz="2400" dirty="0" err="1"/>
              <a:t>lintasan</a:t>
            </a:r>
            <a:r>
              <a:rPr lang="en-ID" sz="2400" dirty="0"/>
              <a:t> Panjang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D" sz="2400" dirty="0" err="1"/>
              <a:t>tambah</a:t>
            </a:r>
            <a:r>
              <a:rPr lang="en-ID" sz="2400" dirty="0"/>
              <a:t> </a:t>
            </a:r>
            <a:r>
              <a:rPr lang="en-ID" sz="2400" dirty="0" err="1"/>
              <a:t>kasus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kata lain (</a:t>
            </a:r>
            <a:r>
              <a:rPr lang="en-ID" sz="2400" dirty="0" err="1"/>
              <a:t>utamanya</a:t>
            </a:r>
            <a:r>
              <a:rPr lang="en-ID" sz="2400" dirty="0"/>
              <a:t> yang </a:t>
            </a:r>
            <a:r>
              <a:rPr lang="en-ID" sz="2400" dirty="0" err="1"/>
              <a:t>ada</a:t>
            </a:r>
            <a:r>
              <a:rPr lang="en-ID" sz="2400" dirty="0"/>
              <a:t> </a:t>
            </a:r>
            <a:r>
              <a:rPr lang="en-ID" sz="2400" dirty="0" err="1"/>
              <a:t>variasi</a:t>
            </a:r>
            <a:r>
              <a:rPr lang="en-ID" sz="2400" dirty="0"/>
              <a:t> </a:t>
            </a:r>
            <a:r>
              <a:rPr lang="en-ID" sz="2400" dirty="0" err="1"/>
              <a:t>huruf</a:t>
            </a:r>
            <a:r>
              <a:rPr lang="en-ID" sz="2400" dirty="0"/>
              <a:t> yang </a:t>
            </a:r>
            <a:r>
              <a:rPr lang="en-ID" sz="2400" dirty="0" err="1"/>
              <a:t>goresannya</a:t>
            </a:r>
            <a:r>
              <a:rPr lang="en-ID" sz="2400" dirty="0"/>
              <a:t> </a:t>
            </a:r>
            <a:r>
              <a:rPr lang="en-ID" sz="2400" dirty="0" err="1"/>
              <a:t>panjang</a:t>
            </a:r>
            <a:r>
              <a:rPr lang="en-ID" sz="2400" dirty="0"/>
              <a:t> dan </a:t>
            </a:r>
            <a:r>
              <a:rPr lang="en-ID" sz="2400" dirty="0" err="1"/>
              <a:t>pendek</a:t>
            </a:r>
            <a:r>
              <a:rPr lang="en-ID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994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61C4C5-2114-5AA3-A7CF-659B78B4275B}"/>
              </a:ext>
            </a:extLst>
          </p:cNvPr>
          <p:cNvSpPr txBox="1"/>
          <p:nvPr/>
        </p:nvSpPr>
        <p:spPr>
          <a:xfrm>
            <a:off x="5822156" y="3105834"/>
            <a:ext cx="1871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</a:t>
            </a:r>
            <a:endParaRPr lang="en-ID" sz="3600" b="1" dirty="0"/>
          </a:p>
        </p:txBody>
      </p:sp>
    </p:spTree>
    <p:extLst>
      <p:ext uri="{BB962C8B-B14F-4D97-AF65-F5344CB8AC3E}">
        <p14:creationId xmlns:p14="http://schemas.microsoft.com/office/powerpoint/2010/main" val="21417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B2DB58-E1FC-A66F-EE78-2A4B0C27883D}"/>
              </a:ext>
            </a:extLst>
          </p:cNvPr>
          <p:cNvSpPr txBox="1"/>
          <p:nvPr/>
        </p:nvSpPr>
        <p:spPr>
          <a:xfrm>
            <a:off x="1209661" y="3555172"/>
            <a:ext cx="101607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 err="1"/>
              <a:t>Analisis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r>
              <a:rPr lang="en-ID" b="1" dirty="0"/>
              <a:t>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b="1" dirty="0"/>
              <a:t>"Safety Loop"</a:t>
            </a:r>
            <a:r>
              <a:rPr lang="en-ID" dirty="0"/>
              <a:t> yang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protektif</a:t>
            </a:r>
            <a:r>
              <a:rPr lang="en-ID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D" dirty="0" err="1"/>
              <a:t>Huruf</a:t>
            </a:r>
            <a:r>
              <a:rPr lang="en-ID" dirty="0"/>
              <a:t> </a:t>
            </a:r>
            <a:r>
              <a:rPr lang="en-ID" b="1" dirty="0"/>
              <a:t>Lam /</a:t>
            </a:r>
            <a:r>
              <a:rPr lang="en-ID" dirty="0"/>
              <a:t> </a:t>
            </a:r>
            <a:r>
              <a:rPr lang="en-ID" b="1" dirty="0"/>
              <a:t>Alif </a:t>
            </a:r>
            <a:r>
              <a:rPr lang="en-US" dirty="0"/>
              <a:t>se</a:t>
            </a:r>
            <a:r>
              <a:rPr lang="en-ID" dirty="0" err="1"/>
              <a:t>ringkali</a:t>
            </a:r>
            <a:r>
              <a:rPr lang="en-ID" dirty="0"/>
              <a:t> </a:t>
            </a:r>
            <a:r>
              <a:rPr lang="en-ID" dirty="0" err="1"/>
              <a:t>bersambung</a:t>
            </a:r>
            <a:r>
              <a:rPr lang="en-ID" dirty="0"/>
              <a:t> sangat </a:t>
            </a:r>
            <a:r>
              <a:rPr lang="en-ID" dirty="0" err="1"/>
              <a:t>dekat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(Loop) </a:t>
            </a:r>
            <a:r>
              <a:rPr lang="en-ID" dirty="0" err="1"/>
              <a:t>sebelumnya</a:t>
            </a:r>
            <a:r>
              <a:rPr lang="en-ID" dirty="0"/>
              <a:t>. (</a:t>
            </a:r>
            <a:r>
              <a:rPr lang="en-ID" dirty="0" err="1"/>
              <a:t>huruf</a:t>
            </a:r>
            <a:r>
              <a:rPr lang="en-ID" dirty="0"/>
              <a:t> nun </a:t>
            </a:r>
            <a:r>
              <a:rPr lang="en-ID" dirty="0" err="1"/>
              <a:t>terseteksi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loop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menyerupai</a:t>
            </a:r>
            <a:r>
              <a:rPr lang="en-ID" dirty="0"/>
              <a:t> </a:t>
            </a:r>
            <a:r>
              <a:rPr lang="en-ID" dirty="0" err="1"/>
              <a:t>lingkaran</a:t>
            </a:r>
            <a:endParaRPr lang="en-ID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mengira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 Lam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Loop,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pemotongan</a:t>
            </a:r>
            <a:r>
              <a:rPr lang="en-ID" dirty="0"/>
              <a:t> </a:t>
            </a:r>
            <a:r>
              <a:rPr lang="en-ID" dirty="0" err="1"/>
              <a:t>dibatalkan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kerusakan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.</a:t>
            </a:r>
          </a:p>
          <a:p>
            <a:pPr marL="342900" indent="-342900">
              <a:buAutoNum type="arabicPeriod"/>
            </a:pPr>
            <a:endParaRPr lang="en-ID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CB0A1F-FE65-C9F2-57DA-56E6A4B4B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498" y="373079"/>
            <a:ext cx="3129116" cy="3055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37D107-DFA4-1B69-B45B-8A8377617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011" y="917841"/>
            <a:ext cx="4872247" cy="196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42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6B4793-CAA1-3B1B-B2D4-47EC213D18B4}"/>
              </a:ext>
            </a:extLst>
          </p:cNvPr>
          <p:cNvSpPr txBox="1"/>
          <p:nvPr/>
        </p:nvSpPr>
        <p:spPr>
          <a:xfrm>
            <a:off x="782102" y="1741159"/>
            <a:ext cx="10627796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/>
              <a:t>Solusi Teknis:</a:t>
            </a:r>
          </a:p>
          <a:p>
            <a:pPr algn="just">
              <a:lnSpc>
                <a:spcPct val="150000"/>
              </a:lnSpc>
            </a:pPr>
            <a:r>
              <a:rPr lang="en-ID" dirty="0" err="1"/>
              <a:t>Sebelumnya</a:t>
            </a:r>
            <a:r>
              <a:rPr lang="en-ID" dirty="0"/>
              <a:t>,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mengecek</a:t>
            </a:r>
            <a:r>
              <a:rPr lang="en-ID" dirty="0"/>
              <a:t> "</a:t>
            </a:r>
            <a:r>
              <a:rPr lang="en-ID" dirty="0" err="1"/>
              <a:t>Tiang</a:t>
            </a:r>
            <a:r>
              <a:rPr lang="en-ID" dirty="0"/>
              <a:t>"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persimpangan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dekat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loop. </a:t>
            </a:r>
            <a:r>
              <a:rPr lang="en-ID" dirty="0" err="1"/>
              <a:t>Sekarang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ubah</a:t>
            </a:r>
            <a:r>
              <a:rPr lang="en-ID" dirty="0"/>
              <a:t> </a:t>
            </a:r>
            <a:r>
              <a:rPr lang="en-ID" dirty="0" err="1"/>
              <a:t>urutannya</a:t>
            </a:r>
            <a:r>
              <a:rPr lang="en-ID" dirty="0"/>
              <a:t>:</a:t>
            </a:r>
            <a:endParaRPr lang="en-ID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dirty="0" err="1"/>
              <a:t>Penambahan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“</a:t>
            </a:r>
            <a:r>
              <a:rPr lang="en-ID" dirty="0" err="1"/>
              <a:t>cektianglam</a:t>
            </a:r>
            <a:r>
              <a:rPr lang="en-ID" dirty="0">
                <a:latin typeface="Courier New" panose="02070309020205020404" pitchFamily="49" charset="0"/>
              </a:rPr>
              <a:t>”</a:t>
            </a:r>
            <a:r>
              <a:rPr lang="en-ID" dirty="0"/>
              <a:t> (</a:t>
            </a:r>
            <a:r>
              <a:rPr lang="en-ID" dirty="0" err="1"/>
              <a:t>Deteksi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 </a:t>
            </a:r>
            <a:r>
              <a:rPr lang="en-ID" dirty="0" err="1"/>
              <a:t>Vertikal</a:t>
            </a:r>
            <a:r>
              <a:rPr lang="en-ID" dirty="0"/>
              <a:t>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dirty="0"/>
              <a:t>Jika </a:t>
            </a:r>
            <a:r>
              <a:rPr lang="en-ID" dirty="0" err="1"/>
              <a:t>terdeteksi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 (Lam/Alif), PAKSA POTONG (</a:t>
            </a:r>
            <a:r>
              <a:rPr lang="en-ID" dirty="0" err="1"/>
              <a:t>abaikan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loop </a:t>
            </a:r>
            <a:r>
              <a:rPr lang="en-ID" dirty="0" err="1"/>
              <a:t>dekat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dirty="0"/>
              <a:t>Jika BUKAN </a:t>
            </a:r>
            <a:r>
              <a:rPr lang="en-ID" dirty="0" err="1"/>
              <a:t>Tiang</a:t>
            </a:r>
            <a:r>
              <a:rPr lang="en-ID" dirty="0"/>
              <a:t>,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jalankan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Loop (</a:t>
            </a:r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potong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dekat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Mim/Wau).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45725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96E1C9-97FD-31DD-FF62-FD4284D4A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60" y="1342269"/>
            <a:ext cx="4748296" cy="4637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D74BD-9AC3-0439-7076-4F98CED3C653}"/>
              </a:ext>
            </a:extLst>
          </p:cNvPr>
          <p:cNvSpPr txBox="1"/>
          <p:nvPr/>
        </p:nvSpPr>
        <p:spPr>
          <a:xfrm>
            <a:off x="2100261" y="851871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GAGAL</a:t>
            </a:r>
            <a:endParaRPr lang="en-ID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42203-AD97-D8F4-073B-9D4F9A87989D}"/>
              </a:ext>
            </a:extLst>
          </p:cNvPr>
          <p:cNvSpPr txBox="1"/>
          <p:nvPr/>
        </p:nvSpPr>
        <p:spPr>
          <a:xfrm>
            <a:off x="5418534" y="1766452"/>
            <a:ext cx="6093618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 err="1"/>
              <a:t>Penyebab</a:t>
            </a:r>
            <a:r>
              <a:rPr lang="en-ID" b="1" dirty="0"/>
              <a:t> </a:t>
            </a:r>
            <a:r>
              <a:rPr lang="en-ID" b="1" dirty="0" err="1"/>
              <a:t>adalah</a:t>
            </a:r>
            <a:r>
              <a:rPr lang="en-ID" b="1" dirty="0"/>
              <a:t>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D" dirty="0"/>
              <a:t>Karena </a:t>
            </a:r>
            <a:r>
              <a:rPr lang="en-ID" dirty="0" err="1"/>
              <a:t>tiang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miring, </a:t>
            </a:r>
            <a:r>
              <a:rPr lang="en-ID" dirty="0" err="1"/>
              <a:t>fungsi</a:t>
            </a:r>
            <a:r>
              <a:rPr lang="en-ID" dirty="0"/>
              <a:t> “</a:t>
            </a:r>
            <a:r>
              <a:rPr lang="en-ID" dirty="0" err="1"/>
              <a:t>cektinglam”mengembalikan</a:t>
            </a:r>
            <a:r>
              <a:rPr lang="en-ID" dirty="0"/>
              <a:t> “false” (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D" dirty="0"/>
              <a:t>Karena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 dan </a:t>
            </a:r>
            <a:r>
              <a:rPr lang="en-ID" dirty="0" err="1"/>
              <a:t>posisinya</a:t>
            </a:r>
            <a:r>
              <a:rPr lang="en-ID" dirty="0"/>
              <a:t> </a:t>
            </a:r>
            <a:r>
              <a:rPr lang="en-ID" dirty="0" err="1"/>
              <a:t>dekat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i="1" dirty="0"/>
              <a:t>Loop</a:t>
            </a:r>
            <a:r>
              <a:rPr lang="en-ID" dirty="0"/>
              <a:t> (</a:t>
            </a:r>
            <a:r>
              <a:rPr lang="en-ID" dirty="0" err="1"/>
              <a:t>lengkungan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di </a:t>
            </a:r>
            <a:r>
              <a:rPr lang="en-ID" dirty="0" err="1"/>
              <a:t>sebelah</a:t>
            </a:r>
            <a:r>
              <a:rPr lang="en-ID" dirty="0"/>
              <a:t> </a:t>
            </a:r>
            <a:r>
              <a:rPr lang="en-ID" dirty="0" err="1"/>
              <a:t>kirinya</a:t>
            </a:r>
            <a:r>
              <a:rPr lang="en-ID" dirty="0"/>
              <a:t>),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"Smart Loop Safety" </a:t>
            </a:r>
            <a:r>
              <a:rPr lang="en-ID" dirty="0" err="1"/>
              <a:t>aktif</a:t>
            </a:r>
            <a:r>
              <a:rPr lang="en-ID" dirty="0"/>
              <a:t>. Kode </a:t>
            </a:r>
            <a:r>
              <a:rPr lang="en-ID" dirty="0" err="1"/>
              <a:t>berpikir</a:t>
            </a:r>
            <a:r>
              <a:rPr lang="en-ID" dirty="0"/>
              <a:t>: </a:t>
            </a:r>
            <a:r>
              <a:rPr lang="en-ID" i="1" dirty="0"/>
              <a:t>"Ini </a:t>
            </a:r>
            <a:r>
              <a:rPr lang="en-ID" i="1" dirty="0" err="1"/>
              <a:t>bukan</a:t>
            </a:r>
            <a:r>
              <a:rPr lang="en-ID" i="1" dirty="0"/>
              <a:t> </a:t>
            </a:r>
            <a:r>
              <a:rPr lang="en-ID" i="1" dirty="0" err="1"/>
              <a:t>tiang</a:t>
            </a:r>
            <a:r>
              <a:rPr lang="en-ID" i="1" dirty="0"/>
              <a:t>, </a:t>
            </a:r>
            <a:r>
              <a:rPr lang="en-ID" i="1" dirty="0" err="1"/>
              <a:t>tapi</a:t>
            </a:r>
            <a:r>
              <a:rPr lang="en-ID" i="1" dirty="0"/>
              <a:t> </a:t>
            </a:r>
            <a:r>
              <a:rPr lang="en-ID" i="1" dirty="0" err="1"/>
              <a:t>dekat</a:t>
            </a:r>
            <a:r>
              <a:rPr lang="en-ID" i="1" dirty="0"/>
              <a:t> </a:t>
            </a:r>
            <a:r>
              <a:rPr lang="en-ID" i="1" dirty="0" err="1"/>
              <a:t>lubang</a:t>
            </a:r>
            <a:r>
              <a:rPr lang="en-ID" i="1" dirty="0"/>
              <a:t>, </a:t>
            </a:r>
            <a:r>
              <a:rPr lang="en-ID" i="1" dirty="0" err="1"/>
              <a:t>jangan</a:t>
            </a:r>
            <a:r>
              <a:rPr lang="en-ID" i="1" dirty="0"/>
              <a:t> </a:t>
            </a:r>
            <a:r>
              <a:rPr lang="en-ID" i="1" dirty="0" err="1"/>
              <a:t>potong</a:t>
            </a:r>
            <a:r>
              <a:rPr lang="en-ID" i="1" dirty="0"/>
              <a:t> </a:t>
            </a:r>
            <a:r>
              <a:rPr lang="en-ID" i="1" dirty="0" err="1"/>
              <a:t>karena</a:t>
            </a:r>
            <a:r>
              <a:rPr lang="en-ID" i="1" dirty="0"/>
              <a:t> </a:t>
            </a:r>
            <a:r>
              <a:rPr lang="en-ID" i="1" dirty="0" err="1"/>
              <a:t>takut</a:t>
            </a:r>
            <a:r>
              <a:rPr lang="en-ID" i="1" dirty="0"/>
              <a:t> </a:t>
            </a:r>
            <a:r>
              <a:rPr lang="en-ID" i="1" dirty="0" err="1"/>
              <a:t>merusak</a:t>
            </a:r>
            <a:r>
              <a:rPr lang="en-ID" i="1" dirty="0"/>
              <a:t> </a:t>
            </a:r>
            <a:r>
              <a:rPr lang="en-ID" i="1" dirty="0" err="1"/>
              <a:t>kepala</a:t>
            </a:r>
            <a:r>
              <a:rPr lang="en-ID" i="1" dirty="0"/>
              <a:t> </a:t>
            </a:r>
            <a:r>
              <a:rPr lang="en-ID" i="1" dirty="0" err="1"/>
              <a:t>huruf</a:t>
            </a:r>
            <a:r>
              <a:rPr lang="en-ID" i="1" dirty="0"/>
              <a:t> Mim/Ha"</a:t>
            </a:r>
            <a:r>
              <a:rPr lang="en-ID" dirty="0"/>
              <a:t>. </a:t>
            </a:r>
            <a:r>
              <a:rPr lang="en-ID" dirty="0" err="1"/>
              <a:t>Akibatnya</a:t>
            </a:r>
            <a:r>
              <a:rPr lang="en-ID" dirty="0"/>
              <a:t>, </a:t>
            </a:r>
            <a:r>
              <a:rPr lang="en-ID" dirty="0" err="1"/>
              <a:t>pemotongan</a:t>
            </a:r>
            <a:r>
              <a:rPr lang="en-ID" dirty="0"/>
              <a:t> </a:t>
            </a:r>
            <a:r>
              <a:rPr lang="en-ID" dirty="0" err="1"/>
              <a:t>dibatalkan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1853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D1FD27-CEDB-C57D-D78F-5D0608DAA557}"/>
              </a:ext>
            </a:extLst>
          </p:cNvPr>
          <p:cNvSpPr txBox="1"/>
          <p:nvPr/>
        </p:nvSpPr>
        <p:spPr>
          <a:xfrm>
            <a:off x="782102" y="541009"/>
            <a:ext cx="10627796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/>
              <a:t>Solusi 2 :</a:t>
            </a:r>
          </a:p>
          <a:p>
            <a:pPr algn="just">
              <a:lnSpc>
                <a:spcPct val="150000"/>
              </a:lnSpc>
            </a:pPr>
            <a:r>
              <a:rPr lang="en-ID" dirty="0" err="1"/>
              <a:t>Sebelumnya</a:t>
            </a:r>
            <a:r>
              <a:rPr lang="en-ID" dirty="0"/>
              <a:t>,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 miring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5 pixel </a:t>
            </a:r>
            <a:r>
              <a:rPr lang="en-ID" dirty="0" err="1"/>
              <a:t>ke</a:t>
            </a:r>
            <a:r>
              <a:rPr lang="en-ID" dirty="0"/>
              <a:t> kiri/</a:t>
            </a:r>
            <a:r>
              <a:rPr lang="en-ID" dirty="0" err="1"/>
              <a:t>kanan</a:t>
            </a:r>
            <a:r>
              <a:rPr lang="en-ID" dirty="0"/>
              <a:t>,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. </a:t>
            </a:r>
            <a:r>
              <a:rPr lang="en-ID" dirty="0" err="1"/>
              <a:t>Sekarang</a:t>
            </a:r>
            <a:r>
              <a:rPr lang="en-ID" dirty="0"/>
              <a:t> </a:t>
            </a: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10 pixel. Karena Ini sangat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tulisan </a:t>
            </a:r>
            <a:r>
              <a:rPr lang="en-ID" dirty="0" err="1"/>
              <a:t>tangan</a:t>
            </a:r>
            <a:r>
              <a:rPr lang="en-ID" dirty="0"/>
              <a:t> yang natural.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14862E-B7A7-BD37-D537-6190044FC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02" y="2406513"/>
            <a:ext cx="4189948" cy="4091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D2AE5A-676D-198D-011B-E1E422CBB18E}"/>
              </a:ext>
            </a:extLst>
          </p:cNvPr>
          <p:cNvSpPr txBox="1"/>
          <p:nvPr/>
        </p:nvSpPr>
        <p:spPr>
          <a:xfrm>
            <a:off x="5580598" y="2077751"/>
            <a:ext cx="59864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permasalahannya</a:t>
            </a:r>
            <a:r>
              <a:rPr lang="en-US" dirty="0"/>
              <a:t> :</a:t>
            </a:r>
          </a:p>
          <a:p>
            <a:pPr marL="342900" indent="-342900">
              <a:buAutoNum type="arabicPeriod"/>
            </a:pPr>
            <a:r>
              <a:rPr lang="en-US" dirty="0" err="1"/>
              <a:t>terlihat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vertikal</a:t>
            </a:r>
            <a:r>
              <a:rPr lang="en-US" dirty="0"/>
              <a:t> (</a:t>
            </a:r>
            <a:r>
              <a:rPr lang="en-US" dirty="0" err="1"/>
              <a:t>kemungkinan</a:t>
            </a:r>
            <a:r>
              <a:rPr lang="en-US" dirty="0"/>
              <a:t> Alif </a:t>
            </a:r>
            <a:r>
              <a:rPr lang="en-US" dirty="0" err="1"/>
              <a:t>atau</a:t>
            </a:r>
            <a:r>
              <a:rPr lang="en-US" dirty="0"/>
              <a:t> Lam)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intersection (</a:t>
            </a:r>
            <a:r>
              <a:rPr lang="en-US" dirty="0" err="1"/>
              <a:t>hijau</a:t>
            </a:r>
            <a:r>
              <a:rPr lang="en-US" dirty="0"/>
              <a:t>) di </a:t>
            </a:r>
            <a:r>
              <a:rPr lang="en-US" dirty="0" err="1"/>
              <a:t>bawahnya</a:t>
            </a:r>
            <a:r>
              <a:rPr lang="en-US" dirty="0"/>
              <a:t>. </a:t>
            </a:r>
            <a:r>
              <a:rPr lang="en-US" dirty="0" err="1"/>
              <a:t>Namun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garis </a:t>
            </a:r>
            <a:r>
              <a:rPr lang="en-US" dirty="0" err="1"/>
              <a:t>merah</a:t>
            </a:r>
            <a:r>
              <a:rPr lang="en-US" dirty="0"/>
              <a:t> </a:t>
            </a:r>
            <a:r>
              <a:rPr lang="en-US" dirty="0" err="1"/>
              <a:t>putus-putus</a:t>
            </a:r>
            <a:r>
              <a:rPr lang="en-US" dirty="0"/>
              <a:t> di sana</a:t>
            </a:r>
          </a:p>
          <a:p>
            <a:pPr marL="342900" indent="-342900">
              <a:buAutoNum type="arabicPeriod"/>
            </a:pPr>
            <a:r>
              <a:rPr lang="en-ID" dirty="0"/>
              <a:t>Metode </a:t>
            </a:r>
            <a:r>
              <a:rPr lang="en-ID" dirty="0" err="1"/>
              <a:t>penelusuran</a:t>
            </a:r>
            <a:r>
              <a:rPr lang="en-ID" dirty="0"/>
              <a:t> </a:t>
            </a:r>
            <a:r>
              <a:rPr lang="en-ID" dirty="0" err="1"/>
              <a:t>piksel</a:t>
            </a:r>
            <a:r>
              <a:rPr lang="en-ID" dirty="0"/>
              <a:t> </a:t>
            </a: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sensitif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"</a:t>
            </a:r>
            <a:r>
              <a:rPr lang="en-ID" dirty="0" err="1"/>
              <a:t>gerigi</a:t>
            </a:r>
            <a:r>
              <a:rPr lang="en-ID" dirty="0"/>
              <a:t>" </a:t>
            </a:r>
            <a:r>
              <a:rPr lang="en-ID" dirty="0" err="1"/>
              <a:t>atau</a:t>
            </a:r>
            <a:r>
              <a:rPr lang="en-ID" dirty="0"/>
              <a:t> garis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lurus</a:t>
            </a:r>
            <a:r>
              <a:rPr lang="en-ID" dirty="0"/>
              <a:t> </a:t>
            </a:r>
            <a:r>
              <a:rPr lang="en-ID" dirty="0" err="1"/>
              <a:t>sempurna</a:t>
            </a:r>
            <a:r>
              <a:rPr lang="en-ID" dirty="0"/>
              <a:t> (</a:t>
            </a:r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bergelombang</a:t>
            </a:r>
            <a:r>
              <a:rPr lang="en-ID" dirty="0"/>
              <a:t>). Jika skeleton </a:t>
            </a:r>
            <a:r>
              <a:rPr lang="en-ID" dirty="0" err="1"/>
              <a:t>bergeser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,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berhenti</a:t>
            </a:r>
            <a:r>
              <a:rPr lang="en-ID" dirty="0"/>
              <a:t> dan </a:t>
            </a:r>
            <a:r>
              <a:rPr lang="en-ID" dirty="0" err="1"/>
              <a:t>menganggap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.</a:t>
            </a:r>
          </a:p>
          <a:p>
            <a:pPr marL="342900" indent="-342900">
              <a:buAutoNum type="arabicPeriod"/>
            </a:pPr>
            <a:r>
              <a:rPr lang="en-ID" b="1" dirty="0"/>
              <a:t>Grouping:</a:t>
            </a:r>
            <a:r>
              <a:rPr lang="en-ID" dirty="0"/>
              <a:t> </a:t>
            </a: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“</a:t>
            </a:r>
            <a:r>
              <a:rPr lang="en-ID" dirty="0" err="1"/>
              <a:t>threshold_gigi</a:t>
            </a:r>
            <a:r>
              <a:rPr lang="en-ID" dirty="0"/>
              <a:t> = 20”. Jika </a:t>
            </a:r>
            <a:r>
              <a:rPr lang="en-ID" dirty="0" err="1"/>
              <a:t>jarak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lengkungan</a:t>
            </a:r>
            <a:r>
              <a:rPr lang="en-ID" dirty="0"/>
              <a:t> di </a:t>
            </a:r>
            <a:r>
              <a:rPr lang="en-ID" dirty="0" err="1"/>
              <a:t>sebelahnya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20px, </a:t>
            </a:r>
            <a:r>
              <a:rPr lang="en-ID" dirty="0" err="1"/>
              <a:t>mereka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grup</a:t>
            </a:r>
            <a:r>
              <a:rPr lang="en-ID" dirty="0"/>
              <a:t>. Kode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mengecek</a:t>
            </a:r>
            <a:r>
              <a:rPr lang="en-ID" dirty="0"/>
              <a:t> </a:t>
            </a:r>
            <a:r>
              <a:rPr lang="en-ID" dirty="0" err="1"/>
              <a:t>posisi</a:t>
            </a:r>
            <a:r>
              <a:rPr lang="en-ID" dirty="0"/>
              <a:t> ke-1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grup</a:t>
            </a:r>
            <a:r>
              <a:rPr lang="en-ID" dirty="0"/>
              <a:t>. Jika </a:t>
            </a:r>
            <a:r>
              <a:rPr lang="en-ID" dirty="0" err="1"/>
              <a:t>Tiang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di </a:t>
            </a:r>
            <a:r>
              <a:rPr lang="en-ID" dirty="0" err="1"/>
              <a:t>posisi</a:t>
            </a:r>
            <a:r>
              <a:rPr lang="en-ID" dirty="0"/>
              <a:t> ke-2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grup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,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terlewat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7923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BDAB48-903A-53FB-576F-4DCCAAAE654A}"/>
              </a:ext>
            </a:extLst>
          </p:cNvPr>
          <p:cNvSpPr txBox="1"/>
          <p:nvPr/>
        </p:nvSpPr>
        <p:spPr>
          <a:xfrm>
            <a:off x="782102" y="2157818"/>
            <a:ext cx="1062779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/>
              <a:t>Solusi 3 :</a:t>
            </a:r>
          </a:p>
          <a:p>
            <a:pPr algn="just">
              <a:lnSpc>
                <a:spcPct val="150000"/>
              </a:lnSpc>
            </a:pPr>
            <a:r>
              <a:rPr lang="en-ID" dirty="0" err="1"/>
              <a:t>Pendekatan</a:t>
            </a:r>
            <a:r>
              <a:rPr lang="en-ID" dirty="0"/>
              <a:t> Kotak </a:t>
            </a:r>
            <a:r>
              <a:rPr lang="en-ID" dirty="0" err="1"/>
              <a:t>Pembatas</a:t>
            </a:r>
            <a:r>
              <a:rPr lang="en-ID" dirty="0"/>
              <a:t> (Bounding Box),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Area. </a:t>
            </a:r>
            <a:r>
              <a:rPr lang="en-ID" dirty="0" err="1"/>
              <a:t>menelusuri</a:t>
            </a:r>
            <a:r>
              <a:rPr lang="en-ID" dirty="0"/>
              <a:t> </a:t>
            </a:r>
            <a:r>
              <a:rPr lang="en-ID" dirty="0" err="1"/>
              <a:t>piksel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per </a:t>
            </a:r>
            <a:r>
              <a:rPr lang="en-ID" dirty="0" err="1"/>
              <a:t>satu</a:t>
            </a:r>
            <a:r>
              <a:rPr lang="en-ID" dirty="0"/>
              <a:t>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ID" dirty="0" err="1"/>
              <a:t>Mendeteksi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Flood Fill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.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, Tidak </a:t>
            </a:r>
            <a:r>
              <a:rPr lang="en-ID" dirty="0" err="1"/>
              <a:t>peduli</a:t>
            </a:r>
            <a:r>
              <a:rPr lang="en-ID" dirty="0"/>
              <a:t> garis </a:t>
            </a:r>
            <a:r>
              <a:rPr lang="en-ID" dirty="0" err="1"/>
              <a:t>bengkok</a:t>
            </a:r>
            <a:r>
              <a:rPr lang="en-ID" dirty="0"/>
              <a:t>, </a:t>
            </a:r>
            <a:r>
              <a:rPr lang="en-ID" dirty="0" err="1"/>
              <a:t>selama</a:t>
            </a:r>
            <a:r>
              <a:rPr lang="en-ID" dirty="0"/>
              <a:t> '</a:t>
            </a:r>
            <a:r>
              <a:rPr lang="en-ID" dirty="0" err="1"/>
              <a:t>kotak</a:t>
            </a:r>
            <a:r>
              <a:rPr lang="en-ID" dirty="0"/>
              <a:t>' </a:t>
            </a:r>
            <a:r>
              <a:rPr lang="en-ID" dirty="0" err="1"/>
              <a:t>areanya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&amp; kurus.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ID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92368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C57F4-513F-6D7F-33C9-60B3BB803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68" y="2507039"/>
            <a:ext cx="4186470" cy="40080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555994-8542-30C3-7E17-6C4659460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" t="14018" r="1098" b="4677"/>
          <a:stretch>
            <a:fillRect/>
          </a:stretch>
        </p:blipFill>
        <p:spPr>
          <a:xfrm>
            <a:off x="800099" y="471488"/>
            <a:ext cx="10644189" cy="1657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BF70A-92E3-0403-7659-989BCC334399}"/>
              </a:ext>
            </a:extLst>
          </p:cNvPr>
          <p:cNvSpPr txBox="1"/>
          <p:nvPr/>
        </p:nvSpPr>
        <p:spPr>
          <a:xfrm>
            <a:off x="5086350" y="3032139"/>
            <a:ext cx="6986588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 err="1"/>
              <a:t>Kegagalan</a:t>
            </a:r>
            <a:r>
              <a:rPr lang="en-ID" b="1" dirty="0"/>
              <a:t> </a:t>
            </a:r>
            <a:r>
              <a:rPr lang="en-ID" b="1" dirty="0" err="1"/>
              <a:t>menurut</a:t>
            </a:r>
            <a:r>
              <a:rPr lang="en-ID" b="1" dirty="0"/>
              <a:t> </a:t>
            </a:r>
            <a:r>
              <a:rPr lang="en-ID" b="1" dirty="0" err="1"/>
              <a:t>saya</a:t>
            </a:r>
            <a:r>
              <a:rPr lang="en-ID" b="1" dirty="0"/>
              <a:t> </a:t>
            </a:r>
            <a:r>
              <a:rPr lang="en-ID" dirty="0"/>
              <a:t>: Pada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flood fill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potong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area </a:t>
            </a:r>
            <a:r>
              <a:rPr lang="en-ID" dirty="0" err="1"/>
              <a:t>tiang</a:t>
            </a:r>
            <a:r>
              <a:rPr lang="en-ID" dirty="0"/>
              <a:t>, </a:t>
            </a:r>
            <a:r>
              <a:rPr lang="en-ID" dirty="0" err="1"/>
              <a:t>pengisian</a:t>
            </a:r>
            <a:r>
              <a:rPr lang="en-ID" dirty="0"/>
              <a:t> </a:t>
            </a:r>
            <a:r>
              <a:rPr lang="en-ID" dirty="0" err="1"/>
              <a:t>mengikuti</a:t>
            </a:r>
            <a:r>
              <a:rPr lang="en-ID" dirty="0"/>
              <a:t> 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piksel</a:t>
            </a:r>
            <a:r>
              <a:rPr lang="en-ID" dirty="0"/>
              <a:t> pada skeleton dan </a:t>
            </a:r>
            <a:r>
              <a:rPr lang="en-ID" dirty="0" err="1"/>
              <a:t>menyebar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. Karena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kiri dan </a:t>
            </a:r>
            <a:r>
              <a:rPr lang="en-ID" dirty="0" err="1"/>
              <a:t>kanan</a:t>
            </a:r>
            <a:r>
              <a:rPr lang="en-ID" dirty="0"/>
              <a:t>. 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area yang </a:t>
            </a:r>
            <a:r>
              <a:rPr lang="en-ID" dirty="0" err="1"/>
              <a:t>dihitung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area </a:t>
            </a:r>
            <a:r>
              <a:rPr lang="en-ID" dirty="0" err="1"/>
              <a:t>tiang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lokal</a:t>
            </a:r>
            <a:r>
              <a:rPr lang="en-ID" dirty="0"/>
              <a:t>, </a:t>
            </a:r>
            <a:r>
              <a:rPr lang="en-ID" dirty="0" err="1"/>
              <a:t>melainkan</a:t>
            </a:r>
            <a:r>
              <a:rPr lang="en-ID" dirty="0"/>
              <a:t> area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luas</a:t>
            </a:r>
            <a:r>
              <a:rPr lang="en-ID" dirty="0"/>
              <a:t> (bocor), </a:t>
            </a:r>
            <a:r>
              <a:rPr lang="en-ID" dirty="0" err="1"/>
              <a:t>sehingga</a:t>
            </a:r>
            <a:r>
              <a:rPr lang="en-ID" dirty="0"/>
              <a:t> proses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harapan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3119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3EA7E0-9C00-77A9-A5AD-A2A527598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3" y="2560362"/>
            <a:ext cx="4342729" cy="41576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A5FECC-DB5E-EF5A-E03B-2D477BAED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" t="12193" r="689" b="3899"/>
          <a:stretch>
            <a:fillRect/>
          </a:stretch>
        </p:blipFill>
        <p:spPr>
          <a:xfrm>
            <a:off x="839671" y="485775"/>
            <a:ext cx="10529888" cy="16836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E4E3F2-E683-DED9-C3E4-F4A1D85B50A1}"/>
              </a:ext>
            </a:extLst>
          </p:cNvPr>
          <p:cNvSpPr txBox="1"/>
          <p:nvPr/>
        </p:nvSpPr>
        <p:spPr>
          <a:xfrm>
            <a:off x="5738812" y="3100387"/>
            <a:ext cx="4961615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Solusi </a:t>
            </a:r>
            <a:r>
              <a:rPr lang="en-US" dirty="0" err="1"/>
              <a:t>saya</a:t>
            </a:r>
            <a:r>
              <a:rPr lang="en-US" dirty="0"/>
              <a:t> (</a:t>
            </a:r>
            <a:r>
              <a:rPr lang="en-US" dirty="0" err="1"/>
              <a:t>menekan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pada </a:t>
            </a:r>
            <a:r>
              <a:rPr lang="en-US" dirty="0" err="1"/>
              <a:t>tiang</a:t>
            </a:r>
            <a:r>
              <a:rPr lang="en-US" dirty="0"/>
              <a:t> lam) 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D" dirty="0"/>
              <a:t>Ambil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persimpangan</a:t>
            </a:r>
            <a:r>
              <a:rPr lang="en-ID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D" dirty="0"/>
              <a:t>Cek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simpangan</a:t>
            </a:r>
            <a:r>
              <a:rPr lang="en-ID" dirty="0"/>
              <a:t> (</a:t>
            </a:r>
            <a:r>
              <a:rPr lang="en-ID" dirty="0" err="1"/>
              <a:t>kanan</a:t>
            </a:r>
            <a:r>
              <a:rPr lang="en-ID" dirty="0"/>
              <a:t>, kiri dan </a:t>
            </a:r>
            <a:r>
              <a:rPr lang="en-ID" dirty="0" err="1"/>
              <a:t>atas</a:t>
            </a:r>
            <a:r>
              <a:rPr lang="en-ID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D" dirty="0" err="1"/>
              <a:t>Jalankan</a:t>
            </a:r>
            <a:r>
              <a:rPr lang="en-ID" dirty="0"/>
              <a:t> “flood </a:t>
            </a:r>
            <a:r>
              <a:rPr lang="en-ID" dirty="0" err="1"/>
              <a:t>fiil</a:t>
            </a:r>
            <a:r>
              <a:rPr lang="en-ID" dirty="0"/>
              <a:t>” yang </a:t>
            </a:r>
            <a:r>
              <a:rPr lang="en-ID" dirty="0" err="1"/>
              <a:t>mengarah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saja</a:t>
            </a:r>
            <a:endParaRPr lang="en-ID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D" dirty="0" err="1"/>
              <a:t>Blokir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 yang </a:t>
            </a:r>
            <a:r>
              <a:rPr lang="en-ID" dirty="0" err="1"/>
              <a:t>mengarah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kanan</a:t>
            </a:r>
            <a:r>
              <a:rPr lang="en-ID" dirty="0"/>
              <a:t> dan kiri</a:t>
            </a:r>
          </a:p>
        </p:txBody>
      </p:sp>
    </p:spTree>
    <p:extLst>
      <p:ext uri="{BB962C8B-B14F-4D97-AF65-F5344CB8AC3E}">
        <p14:creationId xmlns:p14="http://schemas.microsoft.com/office/powerpoint/2010/main" val="3110031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F2B339-597C-430C-0868-88B76E66C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93" y="2206506"/>
            <a:ext cx="4536629" cy="4343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2E2045-BDC9-7D17-B5FC-8E31F90E8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" t="12151" r="835" b="3741"/>
          <a:stretch>
            <a:fillRect/>
          </a:stretch>
        </p:blipFill>
        <p:spPr>
          <a:xfrm>
            <a:off x="752475" y="308195"/>
            <a:ext cx="10687050" cy="171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9D6078-9B6A-F098-42BE-3FA85C8649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535" y="2295372"/>
            <a:ext cx="6205750" cy="18765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D050B6-3EB1-BB5F-2B93-A9ECCBD25623}"/>
              </a:ext>
            </a:extLst>
          </p:cNvPr>
          <p:cNvSpPr txBox="1"/>
          <p:nvPr/>
        </p:nvSpPr>
        <p:spPr>
          <a:xfrm>
            <a:off x="5500688" y="4444627"/>
            <a:ext cx="5181098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Disini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perketat</a:t>
            </a:r>
            <a:r>
              <a:rPr lang="en-US" dirty="0"/>
              <a:t> (</a:t>
            </a:r>
            <a:r>
              <a:rPr lang="en-US" b="1" dirty="0" err="1"/>
              <a:t>tiang</a:t>
            </a:r>
            <a:r>
              <a:rPr lang="en-US" b="1" dirty="0"/>
              <a:t> </a:t>
            </a:r>
            <a:r>
              <a:rPr lang="en-US" b="1" dirty="0" err="1"/>
              <a:t>pendek</a:t>
            </a:r>
            <a:r>
              <a:rPr lang="en-US" b="1" dirty="0"/>
              <a:t> = </a:t>
            </a:r>
            <a:r>
              <a:rPr lang="en-US" b="1" dirty="0" err="1"/>
              <a:t>bukan</a:t>
            </a:r>
            <a:r>
              <a:rPr lang="en-US" b="1" dirty="0"/>
              <a:t> lam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Perubahan</a:t>
            </a:r>
            <a:r>
              <a:rPr lang="en-US" dirty="0"/>
              <a:t>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lakukan</a:t>
            </a:r>
            <a:r>
              <a:rPr lang="en-US" dirty="0"/>
              <a:t> 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ambang</a:t>
            </a:r>
            <a:r>
              <a:rPr lang="en-US" dirty="0"/>
              <a:t> batas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err="1"/>
              <a:t>Mengabaikan</a:t>
            </a:r>
            <a:r>
              <a:rPr lang="en-US" dirty="0"/>
              <a:t> </a:t>
            </a:r>
            <a:r>
              <a:rPr lang="en-US" dirty="0" err="1"/>
              <a:t>tiang</a:t>
            </a:r>
            <a:r>
              <a:rPr lang="en-US" dirty="0"/>
              <a:t> </a:t>
            </a:r>
            <a:r>
              <a:rPr lang="en-US" dirty="0" err="1"/>
              <a:t>kecil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59016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9C093B-EC9C-E1ED-BB2E-503ECBBA4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355" y="1126569"/>
            <a:ext cx="9229625" cy="27909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804D26-A566-B416-190A-38D602800DF7}"/>
              </a:ext>
            </a:extLst>
          </p:cNvPr>
          <p:cNvSpPr txBox="1"/>
          <p:nvPr/>
        </p:nvSpPr>
        <p:spPr>
          <a:xfrm>
            <a:off x="500063" y="757237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Masalah</a:t>
            </a:r>
            <a:r>
              <a:rPr lang="en-US" b="1" dirty="0"/>
              <a:t> pada </a:t>
            </a:r>
            <a:r>
              <a:rPr lang="en-US" b="1" dirty="0" err="1"/>
              <a:t>diakritik</a:t>
            </a:r>
            <a:endParaRPr lang="en-ID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0A5BB-3273-D013-1E27-2098CA083CF0}"/>
              </a:ext>
            </a:extLst>
          </p:cNvPr>
          <p:cNvSpPr txBox="1"/>
          <p:nvPr/>
        </p:nvSpPr>
        <p:spPr>
          <a:xfrm>
            <a:off x="1364355" y="4286879"/>
            <a:ext cx="8283178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pada </a:t>
            </a:r>
            <a:r>
              <a:rPr lang="en-ID" dirty="0" err="1"/>
              <a:t>logika</a:t>
            </a:r>
            <a:r>
              <a:rPr lang="en-ID" dirty="0"/>
              <a:t> </a:t>
            </a:r>
            <a:r>
              <a:rPr lang="en-ID" dirty="0" err="1"/>
              <a:t>pemotongan</a:t>
            </a:r>
            <a:r>
              <a:rPr lang="en-ID" dirty="0"/>
              <a:t> </a:t>
            </a:r>
            <a:r>
              <a:rPr lang="en-ID" dirty="0" err="1"/>
              <a:t>saya</a:t>
            </a:r>
            <a:r>
              <a:rPr lang="en-ID" dirty="0"/>
              <a:t> yang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vertikal</a:t>
            </a:r>
            <a:r>
              <a:rPr lang="en-ID" dirty="0"/>
              <a:t> </a:t>
            </a:r>
            <a:r>
              <a:rPr lang="en-ID" dirty="0" err="1"/>
              <a:t>tegak</a:t>
            </a:r>
            <a:r>
              <a:rPr lang="en-ID" dirty="0"/>
              <a:t> </a:t>
            </a:r>
            <a:r>
              <a:rPr lang="en-ID" dirty="0" err="1"/>
              <a:t>lurus</a:t>
            </a:r>
            <a:r>
              <a:rPr lang="en-ID" dirty="0"/>
              <a:t> (garis </a:t>
            </a:r>
            <a:r>
              <a:rPr lang="en-ID" dirty="0" err="1"/>
              <a:t>merah</a:t>
            </a:r>
            <a:r>
              <a:rPr lang="en-ID" dirty="0"/>
              <a:t>) yang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skeleton,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mengecek</a:t>
            </a:r>
            <a:r>
              <a:rPr lang="en-ID" dirty="0"/>
              <a:t> </a:t>
            </a:r>
            <a:r>
              <a:rPr lang="en-ID" dirty="0" err="1"/>
              <a:t>keberadaan</a:t>
            </a:r>
            <a:r>
              <a:rPr lang="en-ID" dirty="0"/>
              <a:t> </a:t>
            </a:r>
            <a:r>
              <a:rPr lang="en-ID" dirty="0" err="1"/>
              <a:t>diakritik</a:t>
            </a:r>
            <a:r>
              <a:rPr lang="en-ID" dirty="0"/>
              <a:t> di </a:t>
            </a:r>
            <a:r>
              <a:rPr lang="en-ID" dirty="0" err="1"/>
              <a:t>jalur</a:t>
            </a:r>
            <a:r>
              <a:rPr lang="en-ID" dirty="0"/>
              <a:t> garis.</a:t>
            </a:r>
          </a:p>
          <a:p>
            <a:pPr>
              <a:lnSpc>
                <a:spcPct val="150000"/>
              </a:lnSpc>
            </a:pPr>
            <a:r>
              <a:rPr lang="en-ID" dirty="0"/>
              <a:t>Di </a:t>
            </a:r>
            <a:r>
              <a:rPr lang="en-ID" dirty="0" err="1"/>
              <a:t>sini</a:t>
            </a:r>
            <a:r>
              <a:rPr lang="en-ID" dirty="0"/>
              <a:t> </a:t>
            </a: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menambahkan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</a:t>
            </a:r>
            <a:r>
              <a:rPr lang="en-ID" b="1" dirty="0"/>
              <a:t>anti-</a:t>
            </a:r>
            <a:r>
              <a:rPr lang="en-ID" b="1" dirty="0" err="1"/>
              <a:t>tabrak</a:t>
            </a:r>
            <a:r>
              <a:rPr lang="en-ID" b="1" dirty="0"/>
              <a:t> </a:t>
            </a:r>
            <a:r>
              <a:rPr lang="en-ID" b="1" dirty="0" err="1"/>
              <a:t>titik</a:t>
            </a:r>
            <a:r>
              <a:rPr lang="en-ID" dirty="0"/>
              <a:t> pada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koordinat</a:t>
            </a:r>
            <a:r>
              <a:rPr lang="en-ID" dirty="0"/>
              <a:t> </a:t>
            </a:r>
            <a:r>
              <a:rPr lang="en-ID" dirty="0" err="1"/>
              <a:t>pemotongan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4568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625F24-3B9B-0DA0-B465-D7F34A3E9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37" y="1000125"/>
            <a:ext cx="4745663" cy="4543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6568C4-EFE9-11A3-1EBE-72C965921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5" y="1000125"/>
            <a:ext cx="6543955" cy="1978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64BB73-84F5-F3B2-3401-2F3A8D11FBD2}"/>
              </a:ext>
            </a:extLst>
          </p:cNvPr>
          <p:cNvSpPr txBox="1"/>
          <p:nvPr/>
        </p:nvSpPr>
        <p:spPr>
          <a:xfrm>
            <a:off x="685800" y="471487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Hasilnya</a:t>
            </a:r>
            <a:r>
              <a:rPr lang="en-US" b="1" dirty="0"/>
              <a:t> :</a:t>
            </a:r>
            <a:endParaRPr lang="en-ID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46056-D34A-833D-444D-B4DC00CE00FC}"/>
              </a:ext>
            </a:extLst>
          </p:cNvPr>
          <p:cNvSpPr txBox="1"/>
          <p:nvPr/>
        </p:nvSpPr>
        <p:spPr>
          <a:xfrm>
            <a:off x="5248275" y="3429000"/>
            <a:ext cx="609361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pada </a:t>
            </a:r>
            <a:r>
              <a:rPr lang="en-ID" dirty="0" err="1"/>
              <a:t>posisi</a:t>
            </a:r>
            <a:r>
              <a:rPr lang="en-ID" dirty="0"/>
              <a:t> garis </a:t>
            </a:r>
            <a:r>
              <a:rPr lang="en-ID" dirty="0" err="1"/>
              <a:t>potong</a:t>
            </a:r>
            <a:r>
              <a:rPr lang="en-ID" dirty="0"/>
              <a:t>, </a:t>
            </a:r>
            <a:r>
              <a:rPr lang="en-ID" dirty="0" err="1"/>
              <a:t>melainkan</a:t>
            </a:r>
            <a:r>
              <a:rPr lang="en-ID" dirty="0"/>
              <a:t> pada </a:t>
            </a:r>
            <a:r>
              <a:rPr lang="en-ID" dirty="0" err="1"/>
              <a:t>kepemilikan</a:t>
            </a:r>
            <a:r>
              <a:rPr lang="en-ID" dirty="0"/>
              <a:t> </a:t>
            </a:r>
            <a:r>
              <a:rPr lang="en-ID" dirty="0" err="1"/>
              <a:t>piksel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896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87E319-0E8A-3787-DEA3-505ACD41E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925" y="2884403"/>
            <a:ext cx="9266150" cy="28020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5F058C-9E0E-2175-5F7E-34427E2FD063}"/>
              </a:ext>
            </a:extLst>
          </p:cNvPr>
          <p:cNvSpPr txBox="1"/>
          <p:nvPr/>
        </p:nvSpPr>
        <p:spPr>
          <a:xfrm>
            <a:off x="1462925" y="471487"/>
            <a:ext cx="845462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strategi di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potongan</a:t>
            </a:r>
            <a:r>
              <a:rPr lang="en-ID" dirty="0"/>
              <a:t> </a:t>
            </a:r>
            <a:r>
              <a:rPr lang="en-ID" dirty="0" err="1"/>
              <a:t>nya</a:t>
            </a:r>
            <a:r>
              <a:rPr lang="en-ID" dirty="0"/>
              <a:t> 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D" dirty="0"/>
              <a:t> </a:t>
            </a: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Potong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badan </a:t>
            </a:r>
            <a:r>
              <a:rPr lang="en-ID" dirty="0" err="1"/>
              <a:t>huruf</a:t>
            </a:r>
            <a:r>
              <a:rPr lang="en-ID" dirty="0"/>
              <a:t> (Main Stroke) </a:t>
            </a:r>
            <a:r>
              <a:rPr lang="en-ID" dirty="0" err="1"/>
              <a:t>berdasarkan</a:t>
            </a:r>
            <a:r>
              <a:rPr lang="en-ID" dirty="0"/>
              <a:t> garis </a:t>
            </a:r>
            <a:r>
              <a:rPr lang="en-ID" dirty="0" err="1"/>
              <a:t>potong</a:t>
            </a:r>
            <a:r>
              <a:rPr lang="en-ID" dirty="0"/>
              <a:t> </a:t>
            </a:r>
            <a:r>
              <a:rPr lang="en-ID" dirty="0" err="1"/>
              <a:t>vertikal</a:t>
            </a:r>
            <a:r>
              <a:rPr lang="en-ID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D" dirty="0"/>
              <a:t> Saya </a:t>
            </a:r>
            <a:r>
              <a:rPr lang="en-ID" dirty="0" err="1"/>
              <a:t>membiarkan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utuh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terpisah</a:t>
            </a:r>
            <a:r>
              <a:rPr lang="en-ID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D" dirty="0"/>
              <a:t> </a:t>
            </a:r>
            <a:r>
              <a:rPr lang="en-ID" dirty="0" err="1"/>
              <a:t>asosiasikan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potongan</a:t>
            </a:r>
            <a:r>
              <a:rPr lang="en-ID" dirty="0"/>
              <a:t> badan </a:t>
            </a:r>
            <a:r>
              <a:rPr lang="en-ID" dirty="0" err="1"/>
              <a:t>huruf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centroid </a:t>
            </a:r>
            <a:r>
              <a:rPr lang="en-ID" dirty="0" err="1"/>
              <a:t>terdekat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0208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06C0E4-ED7D-3EAA-B104-265FFC7D2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33" y="2998703"/>
            <a:ext cx="10878109" cy="32894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5679F5-CAE1-D2AC-2046-0FA5063BD3FE}"/>
              </a:ext>
            </a:extLst>
          </p:cNvPr>
          <p:cNvSpPr txBox="1"/>
          <p:nvPr/>
        </p:nvSpPr>
        <p:spPr>
          <a:xfrm>
            <a:off x="3049191" y="1177022"/>
            <a:ext cx="609361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menempel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utuh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potongan</a:t>
            </a:r>
            <a:r>
              <a:rPr lang="en-ID" dirty="0"/>
              <a:t> </a:t>
            </a:r>
            <a:r>
              <a:rPr lang="en-ID" dirty="0" err="1"/>
              <a:t>batang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yang paling </a:t>
            </a:r>
            <a:r>
              <a:rPr lang="en-ID" dirty="0" err="1"/>
              <a:t>dekat</a:t>
            </a:r>
            <a:r>
              <a:rPr lang="en-ID" dirty="0"/>
              <a:t> (centroid).</a:t>
            </a:r>
          </a:p>
        </p:txBody>
      </p:sp>
    </p:spTree>
    <p:extLst>
      <p:ext uri="{BB962C8B-B14F-4D97-AF65-F5344CB8AC3E}">
        <p14:creationId xmlns:p14="http://schemas.microsoft.com/office/powerpoint/2010/main" val="846838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97E58C-1C6A-C4AD-4E35-07B1DFAB5EE6}"/>
              </a:ext>
            </a:extLst>
          </p:cNvPr>
          <p:cNvSpPr txBox="1"/>
          <p:nvPr/>
        </p:nvSpPr>
        <p:spPr>
          <a:xfrm>
            <a:off x="803673" y="886637"/>
            <a:ext cx="994052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 err="1"/>
              <a:t>untuk</a:t>
            </a:r>
            <a:r>
              <a:rPr lang="en-ID" dirty="0"/>
              <a:t> Fajrul: (</a:t>
            </a:r>
            <a:r>
              <a:rPr lang="en-ID" dirty="0" err="1"/>
              <a:t>pak</a:t>
            </a:r>
            <a:r>
              <a:rPr lang="en-ID" dirty="0"/>
              <a:t> </a:t>
            </a:r>
            <a:r>
              <a:rPr lang="en-ID" dirty="0" err="1"/>
              <a:t>zulhaj</a:t>
            </a:r>
            <a:r>
              <a:rPr lang="en-ID" dirty="0"/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D" dirty="0" err="1"/>
              <a:t>asosiasi</a:t>
            </a:r>
            <a:r>
              <a:rPr lang="en-ID" dirty="0"/>
              <a:t> </a:t>
            </a:r>
            <a:r>
              <a:rPr lang="en-ID" dirty="0" err="1"/>
              <a:t>diakritik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non-</a:t>
            </a:r>
            <a:r>
              <a:rPr lang="en-ID" dirty="0" err="1"/>
              <a:t>tiang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saran Bu Dian)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D" dirty="0" err="1"/>
              <a:t>tambah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kata lain, </a:t>
            </a:r>
            <a:r>
              <a:rPr lang="en-ID" dirty="0" err="1"/>
              <a:t>kalau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variasi</a:t>
            </a:r>
            <a:r>
              <a:rPr lang="en-ID" dirty="0"/>
              <a:t> </a:t>
            </a:r>
            <a:r>
              <a:rPr lang="en-ID" dirty="0" err="1"/>
              <a:t>goresannya</a:t>
            </a:r>
            <a:r>
              <a:rPr lang="en-ID" dirty="0"/>
              <a:t> </a:t>
            </a:r>
            <a:r>
              <a:rPr lang="en-ID" dirty="0" err="1"/>
              <a:t>panjang</a:t>
            </a:r>
            <a:r>
              <a:rPr lang="en-ID" dirty="0"/>
              <a:t> dan </a:t>
            </a:r>
            <a:r>
              <a:rPr lang="en-ID" dirty="0" err="1"/>
              <a:t>pendek</a:t>
            </a:r>
            <a:endParaRPr lang="en-ID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D" dirty="0" err="1"/>
              <a:t>cektianglam</a:t>
            </a:r>
            <a:r>
              <a:rPr lang="en-ID" dirty="0"/>
              <a:t>(</a:t>
            </a:r>
            <a:r>
              <a:rPr lang="en-ID" dirty="0" err="1"/>
              <a:t>min_height</a:t>
            </a:r>
            <a:r>
              <a:rPr lang="en-ID" dirty="0"/>
              <a:t>=12, </a:t>
            </a:r>
            <a:r>
              <a:rPr lang="en-ID" dirty="0" err="1"/>
              <a:t>max_width_spread</a:t>
            </a:r>
            <a:r>
              <a:rPr lang="en-ID" dirty="0"/>
              <a:t>=CONST*</a:t>
            </a:r>
            <a:r>
              <a:rPr lang="en-ID" dirty="0" err="1"/>
              <a:t>max_height_found</a:t>
            </a:r>
            <a:r>
              <a:rPr lang="en-ID" dirty="0"/>
              <a:t>) </a:t>
            </a:r>
            <a:r>
              <a:rPr lang="en-ID" dirty="0" err="1"/>
              <a:t>pakai</a:t>
            </a:r>
            <a:r>
              <a:rPr lang="en-ID" dirty="0"/>
              <a:t> 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pengali</a:t>
            </a:r>
            <a:r>
              <a:rPr lang="en-ID" dirty="0"/>
              <a:t> CONST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toleransi</a:t>
            </a:r>
            <a:r>
              <a:rPr lang="en-ID" dirty="0"/>
              <a:t> '</a:t>
            </a:r>
            <a:r>
              <a:rPr lang="en-ID" dirty="0" err="1"/>
              <a:t>simpangan</a:t>
            </a:r>
            <a:r>
              <a:rPr lang="en-ID" dirty="0"/>
              <a:t> </a:t>
            </a:r>
            <a:r>
              <a:rPr lang="en-ID" dirty="0" err="1"/>
              <a:t>kebocoran</a:t>
            </a:r>
            <a:r>
              <a:rPr lang="en-ID" dirty="0"/>
              <a:t>'.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tiang</a:t>
            </a:r>
            <a:r>
              <a:rPr lang="en-ID" dirty="0"/>
              <a:t>,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simpangannya</a:t>
            </a:r>
            <a:r>
              <a:rPr lang="en-ID" dirty="0"/>
              <a:t> juga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agak</a:t>
            </a:r>
            <a:r>
              <a:rPr lang="en-ID" dirty="0"/>
              <a:t> </a:t>
            </a:r>
            <a:r>
              <a:rPr lang="en-ID" dirty="0" err="1"/>
              <a:t>lebar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587309-D587-0D9C-6B09-C215E9035121}"/>
              </a:ext>
            </a:extLst>
          </p:cNvPr>
          <p:cNvSpPr txBox="1"/>
          <p:nvPr/>
        </p:nvSpPr>
        <p:spPr>
          <a:xfrm>
            <a:off x="928688" y="4300538"/>
            <a:ext cx="3950953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Dari </a:t>
            </a:r>
            <a:r>
              <a:rPr lang="en-US" dirty="0" err="1"/>
              <a:t>budian</a:t>
            </a:r>
            <a:r>
              <a:rPr lang="en-US" dirty="0"/>
              <a:t> 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err="1"/>
              <a:t>Rubah</a:t>
            </a:r>
            <a:r>
              <a:rPr lang="en-US" dirty="0"/>
              <a:t> </a:t>
            </a:r>
            <a:r>
              <a:rPr lang="en-US" dirty="0" err="1"/>
              <a:t>kepemilikan</a:t>
            </a:r>
            <a:r>
              <a:rPr lang="en-US" dirty="0"/>
              <a:t> </a:t>
            </a:r>
            <a:r>
              <a:rPr lang="en-US" dirty="0" err="1"/>
              <a:t>diakritiknya</a:t>
            </a:r>
            <a:endParaRPr 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D" dirty="0" err="1"/>
              <a:t>Bedakan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lam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lain ()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89749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C2DFE9-C78D-4CBD-E31C-2E3270BFB940}"/>
              </a:ext>
            </a:extLst>
          </p:cNvPr>
          <p:cNvSpPr txBox="1"/>
          <p:nvPr/>
        </p:nvSpPr>
        <p:spPr>
          <a:xfrm>
            <a:off x="5815013" y="2814638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4</a:t>
            </a:r>
            <a:endParaRPr lang="en-ID" sz="6600" b="1" dirty="0"/>
          </a:p>
        </p:txBody>
      </p:sp>
    </p:spTree>
    <p:extLst>
      <p:ext uri="{BB962C8B-B14F-4D97-AF65-F5344CB8AC3E}">
        <p14:creationId xmlns:p14="http://schemas.microsoft.com/office/powerpoint/2010/main" val="983698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ACE517-CD26-7944-E6EB-F8AAF4E7E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205" y="74823"/>
            <a:ext cx="4157896" cy="39807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0FA601-4F62-D791-0D6E-7EA055843EDD}"/>
              </a:ext>
            </a:extLst>
          </p:cNvPr>
          <p:cNvSpPr txBox="1"/>
          <p:nvPr/>
        </p:nvSpPr>
        <p:spPr>
          <a:xfrm>
            <a:off x="5643564" y="1218678"/>
            <a:ext cx="6282812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 err="1"/>
              <a:t>Penambahan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</a:t>
            </a:r>
            <a:r>
              <a:rPr lang="en-ID" dirty="0" err="1"/>
              <a:t>ya</a:t>
            </a:r>
            <a:r>
              <a:rPr lang="en-ID" dirty="0"/>
              <a:t>’ </a:t>
            </a:r>
            <a:r>
              <a:rPr lang="en-ID" dirty="0" err="1"/>
              <a:t>mengubah</a:t>
            </a:r>
            <a:r>
              <a:rPr lang="en-ID" dirty="0"/>
              <a:t> status </a:t>
            </a:r>
            <a:r>
              <a:rPr lang="en-ID" dirty="0" err="1"/>
              <a:t>potongan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'noise' </a:t>
            </a:r>
            <a:r>
              <a:rPr lang="en-ID" dirty="0" err="1"/>
              <a:t>menjadi</a:t>
            </a:r>
            <a:r>
              <a:rPr lang="en-ID" dirty="0"/>
              <a:t> '</a:t>
            </a:r>
            <a:r>
              <a:rPr lang="en-ID" dirty="0" err="1"/>
              <a:t>huruf</a:t>
            </a:r>
            <a:r>
              <a:rPr lang="en-ID" dirty="0"/>
              <a:t> valid’, </a:t>
            </a:r>
            <a:r>
              <a:rPr lang="en-ID" dirty="0" err="1"/>
              <a:t>Keberhasilan</a:t>
            </a:r>
            <a:r>
              <a:rPr lang="en-ID" dirty="0"/>
              <a:t> </a:t>
            </a:r>
            <a:r>
              <a:rPr lang="en-ID" dirty="0" err="1"/>
              <a:t>penarikan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memprioritaskan</a:t>
            </a:r>
            <a:r>
              <a:rPr lang="en-ID" dirty="0"/>
              <a:t> </a:t>
            </a:r>
            <a:r>
              <a:rPr lang="en-ID" dirty="0" err="1"/>
              <a:t>keselarasan</a:t>
            </a:r>
            <a:r>
              <a:rPr lang="en-ID" dirty="0"/>
              <a:t> </a:t>
            </a:r>
            <a:r>
              <a:rPr lang="en-ID" dirty="0" err="1"/>
              <a:t>vertikal</a:t>
            </a:r>
            <a:r>
              <a:rPr lang="en-ID" dirty="0"/>
              <a:t> (</a:t>
            </a:r>
            <a:r>
              <a:rPr lang="en-ID" dirty="0" err="1"/>
              <a:t>tegak</a:t>
            </a:r>
            <a:r>
              <a:rPr lang="en-ID" dirty="0"/>
              <a:t> </a:t>
            </a:r>
            <a:r>
              <a:rPr lang="en-ID" dirty="0" err="1"/>
              <a:t>lurus</a:t>
            </a:r>
            <a:r>
              <a:rPr lang="en-ID" dirty="0"/>
              <a:t>),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ekor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Lam yang </a:t>
            </a:r>
            <a:r>
              <a:rPr lang="en-ID" dirty="0" err="1"/>
              <a:t>panjang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milik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Ya.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07EDE-E428-8DA6-BE1A-616EFF177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89" y="4161994"/>
            <a:ext cx="6699623" cy="202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13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F5ADAF-7BE3-242F-5860-70ECC3EC84A9}"/>
              </a:ext>
            </a:extLst>
          </p:cNvPr>
          <p:cNvSpPr txBox="1"/>
          <p:nvPr/>
        </p:nvSpPr>
        <p:spPr>
          <a:xfrm>
            <a:off x="2513288" y="528637"/>
            <a:ext cx="7347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Terjadi</a:t>
            </a:r>
            <a:r>
              <a:rPr lang="en-US" b="1" dirty="0"/>
              <a:t> </a:t>
            </a:r>
            <a:r>
              <a:rPr lang="en-US" b="1" dirty="0" err="1"/>
              <a:t>kasus</a:t>
            </a:r>
            <a:r>
              <a:rPr lang="en-US" b="1" dirty="0"/>
              <a:t> </a:t>
            </a:r>
            <a:r>
              <a:rPr lang="en-ID" b="1" i="1" dirty="0"/>
              <a:t>Over-Segmentation</a:t>
            </a:r>
            <a:r>
              <a:rPr lang="en-ID" b="1" dirty="0"/>
              <a:t> pada </a:t>
            </a:r>
            <a:r>
              <a:rPr lang="en-ID" b="1" dirty="0" err="1"/>
              <a:t>Struktur</a:t>
            </a:r>
            <a:r>
              <a:rPr lang="en-ID" b="1" dirty="0"/>
              <a:t> Gigi </a:t>
            </a:r>
            <a:r>
              <a:rPr lang="en-ID" b="1" dirty="0" err="1"/>
              <a:t>Huruf</a:t>
            </a:r>
            <a:r>
              <a:rPr lang="en-ID" b="1" dirty="0"/>
              <a:t> (Kasus Sin &amp; Ya')</a:t>
            </a:r>
          </a:p>
          <a:p>
            <a:endParaRPr lang="en-ID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E60CA-EBEA-2683-DB3C-62362B82FE6D}"/>
              </a:ext>
            </a:extLst>
          </p:cNvPr>
          <p:cNvSpPr txBox="1"/>
          <p:nvPr/>
        </p:nvSpPr>
        <p:spPr>
          <a:xfrm>
            <a:off x="5029201" y="1438646"/>
            <a:ext cx="6200775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/>
              <a:t>Metode </a:t>
            </a:r>
            <a:r>
              <a:rPr lang="en-ID" b="1" dirty="0" err="1"/>
              <a:t>Penyelesaian</a:t>
            </a:r>
            <a:r>
              <a:rPr lang="en-ID" b="1" dirty="0"/>
              <a:t>: </a:t>
            </a:r>
            <a:r>
              <a:rPr lang="en-ID" dirty="0" err="1"/>
              <a:t>pembatas</a:t>
            </a:r>
            <a:r>
              <a:rPr lang="en-ID" dirty="0"/>
              <a:t> </a:t>
            </a:r>
            <a:r>
              <a:rPr lang="en-ID" dirty="0" err="1"/>
              <a:t>Penelusuran</a:t>
            </a:r>
            <a:r>
              <a:rPr lang="en-ID" dirty="0"/>
              <a:t> </a:t>
            </a:r>
            <a:r>
              <a:rPr lang="en-ID" dirty="0" err="1"/>
              <a:t>Heuristik</a:t>
            </a:r>
            <a:r>
              <a:rPr lang="en-ID" dirty="0"/>
              <a:t> (Heuristic Traversal Restriction).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4E8EC-E11D-32EA-20D4-7A7B992A88CB}"/>
              </a:ext>
            </a:extLst>
          </p:cNvPr>
          <p:cNvSpPr txBox="1"/>
          <p:nvPr/>
        </p:nvSpPr>
        <p:spPr>
          <a:xfrm>
            <a:off x="5029201" y="3061658"/>
            <a:ext cx="6200775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pembatasan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i="1" dirty="0"/>
              <a:t>Flood Fill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Strict Vertical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penambahan</a:t>
            </a:r>
            <a:r>
              <a:rPr lang="en-ID" dirty="0"/>
              <a:t> filter </a:t>
            </a:r>
            <a:r>
              <a:rPr lang="en-ID" dirty="0" err="1"/>
              <a:t>jarak</a:t>
            </a:r>
            <a:r>
              <a:rPr lang="en-ID" dirty="0"/>
              <a:t> </a:t>
            </a:r>
            <a:r>
              <a:rPr lang="en-ID" dirty="0" err="1"/>
              <a:t>spasial</a:t>
            </a:r>
            <a:r>
              <a:rPr lang="en-ID" dirty="0"/>
              <a:t>. </a:t>
            </a:r>
            <a:r>
              <a:rPr lang="en-ID" dirty="0" err="1"/>
              <a:t>Hasilnya</a:t>
            </a:r>
            <a:r>
              <a:rPr lang="en-ID" dirty="0"/>
              <a:t> over-segmentation pada </a:t>
            </a:r>
            <a:r>
              <a:rPr lang="en-ID" dirty="0" err="1"/>
              <a:t>huruf</a:t>
            </a:r>
            <a:r>
              <a:rPr lang="en-ID" dirty="0"/>
              <a:t> Sin </a:t>
            </a:r>
            <a:r>
              <a:rPr lang="en-ID" dirty="0" err="1"/>
              <a:t>teratasi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parameter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kaku</a:t>
            </a:r>
            <a:r>
              <a:rPr lang="en-ID" dirty="0"/>
              <a:t> (</a:t>
            </a:r>
            <a:r>
              <a:rPr lang="en-ID" i="1" dirty="0"/>
              <a:t>overfitting</a:t>
            </a:r>
            <a:r>
              <a:rPr lang="en-ID" dirty="0"/>
              <a:t>),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gagal</a:t>
            </a:r>
            <a:r>
              <a:rPr lang="en-ID" dirty="0"/>
              <a:t> </a:t>
            </a:r>
            <a:r>
              <a:rPr lang="en-ID" dirty="0" err="1"/>
              <a:t>mengenali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Ya' </a:t>
            </a:r>
            <a:r>
              <a:rPr lang="en-ID" dirty="0" err="1"/>
              <a:t>tunggal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varians</a:t>
            </a:r>
            <a:r>
              <a:rPr lang="en-ID" dirty="0"/>
              <a:t> </a:t>
            </a:r>
            <a:r>
              <a:rPr lang="en-ID" dirty="0" err="1"/>
              <a:t>kemiringan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29D228-6409-83F2-9ECD-AC23EB42B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77" y="1438646"/>
            <a:ext cx="4498222" cy="43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27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BD475DB-AE94-1EF3-FD6E-CA04217B9DA3}"/>
              </a:ext>
            </a:extLst>
          </p:cNvPr>
          <p:cNvSpPr txBox="1"/>
          <p:nvPr/>
        </p:nvSpPr>
        <p:spPr>
          <a:xfrm>
            <a:off x="5261488" y="774968"/>
            <a:ext cx="609845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dirty="0"/>
              <a:t>	</a:t>
            </a:r>
            <a:r>
              <a:rPr lang="en-ID" dirty="0" err="1"/>
              <a:t>Deteksi</a:t>
            </a:r>
            <a:r>
              <a:rPr lang="en-ID" dirty="0"/>
              <a:t> "Ya’”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ketat</a:t>
            </a:r>
            <a:r>
              <a:rPr lang="en-ID" dirty="0"/>
              <a:t> (</a:t>
            </a:r>
            <a:r>
              <a:rPr lang="en-ID" dirty="0" err="1"/>
              <a:t>gara-gara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Strict Vertical yang </a:t>
            </a: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berikan</a:t>
            </a:r>
            <a:r>
              <a:rPr lang="en-ID" dirty="0"/>
              <a:t>). </a:t>
            </a:r>
            <a:r>
              <a:rPr lang="en-ID" dirty="0" err="1"/>
              <a:t>akibatnya</a:t>
            </a:r>
            <a:r>
              <a:rPr lang="en-ID" dirty="0"/>
              <a:t>, </a:t>
            </a:r>
            <a:r>
              <a:rPr lang="en-ID" dirty="0" err="1"/>
              <a:t>huruf</a:t>
            </a:r>
            <a:r>
              <a:rPr lang="en-ID" dirty="0"/>
              <a:t> </a:t>
            </a:r>
            <a:r>
              <a:rPr lang="en-ID" dirty="0" err="1"/>
              <a:t>ya</a:t>
            </a:r>
            <a:r>
              <a:rPr lang="en-ID" dirty="0"/>
              <a:t> yang </a:t>
            </a:r>
            <a:r>
              <a:rPr lang="en-ID" dirty="0" err="1"/>
              <a:t>bentuknya</a:t>
            </a:r>
            <a:r>
              <a:rPr lang="en-ID" dirty="0"/>
              <a:t> </a:t>
            </a:r>
            <a:r>
              <a:rPr lang="en-ID" dirty="0" err="1"/>
              <a:t>agak</a:t>
            </a:r>
            <a:r>
              <a:rPr lang="en-ID" dirty="0"/>
              <a:t> miring </a:t>
            </a:r>
            <a:r>
              <a:rPr lang="en-ID" dirty="0" err="1"/>
              <a:t>malah</a:t>
            </a:r>
            <a:r>
              <a:rPr lang="en-ID" dirty="0"/>
              <a:t> </a:t>
            </a:r>
            <a:r>
              <a:rPr lang="en-ID" dirty="0" err="1"/>
              <a:t>terabaikan</a:t>
            </a:r>
            <a:r>
              <a:rPr lang="en-ID" dirty="0"/>
              <a:t>, </a:t>
            </a:r>
            <a:r>
              <a:rPr lang="en-ID" dirty="0" err="1"/>
              <a:t>sementara</a:t>
            </a:r>
            <a:r>
              <a:rPr lang="en-ID" dirty="0"/>
              <a:t> noise </a:t>
            </a:r>
            <a:r>
              <a:rPr lang="en-ID" dirty="0" err="1"/>
              <a:t>kecil</a:t>
            </a:r>
            <a:r>
              <a:rPr lang="en-ID" dirty="0"/>
              <a:t> di </a:t>
            </a:r>
            <a:r>
              <a:rPr lang="en-ID" dirty="0" err="1"/>
              <a:t>tiang</a:t>
            </a:r>
            <a:r>
              <a:rPr lang="en-ID" dirty="0"/>
              <a:t> Lam </a:t>
            </a:r>
            <a:r>
              <a:rPr lang="en-ID" dirty="0" err="1"/>
              <a:t>malah</a:t>
            </a:r>
            <a:r>
              <a:rPr lang="en-ID" dirty="0"/>
              <a:t> </a:t>
            </a:r>
            <a:r>
              <a:rPr lang="en-ID" dirty="0" err="1"/>
              <a:t>terdeteksi</a:t>
            </a:r>
            <a:r>
              <a:rPr lang="en-ID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4C6FFA-20EB-9923-AE52-690038104F70}"/>
              </a:ext>
            </a:extLst>
          </p:cNvPr>
          <p:cNvSpPr txBox="1"/>
          <p:nvPr/>
        </p:nvSpPr>
        <p:spPr>
          <a:xfrm>
            <a:off x="5261488" y="3591910"/>
            <a:ext cx="609845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b="1" dirty="0"/>
              <a:t>SOLUSI : </a:t>
            </a:r>
            <a:r>
              <a:rPr lang="en-ID" dirty="0" err="1"/>
              <a:t>melonggarkan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penelusuran</a:t>
            </a:r>
            <a:r>
              <a:rPr lang="en-ID" dirty="0"/>
              <a:t>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batasan</a:t>
            </a:r>
            <a:r>
              <a:rPr lang="en-ID" dirty="0"/>
              <a:t> </a:t>
            </a:r>
            <a:r>
              <a:rPr lang="en-ID" dirty="0" err="1"/>
              <a:t>lebar</a:t>
            </a:r>
            <a:r>
              <a:rPr lang="en-ID" dirty="0"/>
              <a:t> (agar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merembet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Sin). </a:t>
            </a:r>
            <a:r>
              <a:rPr lang="en-ID" dirty="0" err="1"/>
              <a:t>saya</a:t>
            </a:r>
            <a:r>
              <a:rPr lang="en-ID" dirty="0"/>
              <a:t> juga </a:t>
            </a:r>
            <a:r>
              <a:rPr lang="en-ID" dirty="0" err="1"/>
              <a:t>menyamakan</a:t>
            </a:r>
            <a:r>
              <a:rPr lang="en-ID" dirty="0"/>
              <a:t> parameter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</a:t>
            </a:r>
            <a:r>
              <a:rPr lang="en-ID" dirty="0" err="1"/>
              <a:t>pemotongan</a:t>
            </a:r>
            <a:r>
              <a:rPr lang="en-ID" dirty="0"/>
              <a:t> (</a:t>
            </a:r>
            <a:r>
              <a:rPr lang="en-ID" dirty="0" err="1"/>
              <a:t>tinggi</a:t>
            </a:r>
            <a:r>
              <a:rPr lang="en-ID" dirty="0"/>
              <a:t> &lt; 30 </a:t>
            </a:r>
            <a:r>
              <a:rPr lang="en-ID" dirty="0" err="1"/>
              <a:t>dianggap</a:t>
            </a:r>
            <a:r>
              <a:rPr lang="en-ID" dirty="0"/>
              <a:t> Ya).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8CF368-EBD2-56CD-F83B-3112BEDE4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60" y="1165122"/>
            <a:ext cx="4729296" cy="452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7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6661A3-9780-275F-0646-3F7AB0284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60" y="1165122"/>
            <a:ext cx="4729296" cy="45277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EBD5BE-C96E-6383-60E9-F8BC8777F085}"/>
              </a:ext>
            </a:extLst>
          </p:cNvPr>
          <p:cNvSpPr txBox="1"/>
          <p:nvPr/>
        </p:nvSpPr>
        <p:spPr>
          <a:xfrm>
            <a:off x="5143272" y="1950068"/>
            <a:ext cx="6661355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ID" dirty="0"/>
              <a:t>Gigi 'Sin' </a:t>
            </a:r>
            <a:r>
              <a:rPr lang="en-ID" dirty="0" err="1"/>
              <a:t>disangka</a:t>
            </a:r>
            <a:r>
              <a:rPr lang="en-ID" dirty="0"/>
              <a:t> Ya': Gigi </a:t>
            </a:r>
            <a:r>
              <a:rPr lang="en-ID" dirty="0" err="1"/>
              <a:t>huruf</a:t>
            </a:r>
            <a:r>
              <a:rPr lang="en-ID" dirty="0"/>
              <a:t> Sin pada tulisan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ternyata</a:t>
            </a:r>
            <a:r>
              <a:rPr lang="en-ID" dirty="0"/>
              <a:t> </a:t>
            </a:r>
            <a:r>
              <a:rPr lang="en-ID" dirty="0" err="1"/>
              <a:t>jaraknya</a:t>
            </a:r>
            <a:r>
              <a:rPr lang="en-ID" dirty="0"/>
              <a:t>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renggang</a:t>
            </a:r>
            <a:r>
              <a:rPr lang="en-ID" dirty="0"/>
              <a:t>. </a:t>
            </a:r>
            <a:r>
              <a:rPr lang="en-ID" dirty="0" err="1"/>
              <a:t>sebelumnya</a:t>
            </a:r>
            <a:r>
              <a:rPr lang="en-ID" dirty="0"/>
              <a:t> </a:t>
            </a:r>
            <a:r>
              <a:rPr lang="en-ID" dirty="0" err="1"/>
              <a:t>gagal</a:t>
            </a:r>
            <a:r>
              <a:rPr lang="en-ID" dirty="0"/>
              <a:t> </a:t>
            </a:r>
            <a:r>
              <a:rPr lang="en-ID" dirty="0" err="1"/>
              <a:t>mengenali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kumpulan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Sin, dan </a:t>
            </a:r>
            <a:r>
              <a:rPr lang="en-ID" dirty="0" err="1"/>
              <a:t>malah</a:t>
            </a:r>
            <a:r>
              <a:rPr lang="en-ID" dirty="0"/>
              <a:t> </a:t>
            </a:r>
            <a:r>
              <a:rPr lang="en-ID" dirty="0" err="1"/>
              <a:t>menganggap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giginya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Ya' yang </a:t>
            </a:r>
            <a:r>
              <a:rPr lang="en-ID" dirty="0" err="1"/>
              <a:t>berdiri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ID" dirty="0" err="1"/>
              <a:t>Huruf</a:t>
            </a:r>
            <a:r>
              <a:rPr lang="en-ID" dirty="0"/>
              <a:t> Ya' Asli </a:t>
            </a:r>
            <a:r>
              <a:rPr lang="en-ID" dirty="0" err="1"/>
              <a:t>Terlewat</a:t>
            </a:r>
            <a:r>
              <a:rPr lang="en-ID" dirty="0"/>
              <a:t>: </a:t>
            </a:r>
            <a:r>
              <a:rPr lang="en-ID" dirty="0" err="1"/>
              <a:t>Huruf</a:t>
            </a:r>
            <a:r>
              <a:rPr lang="en-ID" dirty="0"/>
              <a:t> Ya' di </a:t>
            </a:r>
            <a:r>
              <a:rPr lang="en-ID" dirty="0" err="1"/>
              <a:t>antara</a:t>
            </a:r>
            <a:r>
              <a:rPr lang="en-ID" dirty="0"/>
              <a:t> Lam dan Nun </a:t>
            </a:r>
            <a:r>
              <a:rPr lang="en-ID" dirty="0" err="1"/>
              <a:t>bentuknya</a:t>
            </a:r>
            <a:r>
              <a:rPr lang="en-ID" dirty="0"/>
              <a:t> sangat </a:t>
            </a:r>
            <a:r>
              <a:rPr lang="en-ID" dirty="0" err="1"/>
              <a:t>datar</a:t>
            </a:r>
            <a:r>
              <a:rPr lang="en-ID" dirty="0"/>
              <a:t> (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garis </a:t>
            </a:r>
            <a:r>
              <a:rPr lang="en-ID" dirty="0" err="1"/>
              <a:t>lurus</a:t>
            </a:r>
            <a:r>
              <a:rPr lang="en-ID" dirty="0"/>
              <a:t> </a:t>
            </a:r>
            <a:r>
              <a:rPr lang="en-ID" dirty="0" err="1"/>
              <a:t>sambungan</a:t>
            </a:r>
            <a:r>
              <a:rPr lang="en-ID" dirty="0"/>
              <a:t>).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visualisasi</a:t>
            </a:r>
            <a:r>
              <a:rPr lang="en-ID" dirty="0"/>
              <a:t> lama </a:t>
            </a:r>
            <a:r>
              <a:rPr lang="en-ID" dirty="0" err="1"/>
              <a:t>melewatinya</a:t>
            </a:r>
            <a:r>
              <a:rPr lang="en-ID" dirty="0"/>
              <a:t>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4623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7088A-002C-7DA3-6A95-EF272CF0B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7"/>
          <a:stretch>
            <a:fillRect/>
          </a:stretch>
        </p:blipFill>
        <p:spPr>
          <a:xfrm>
            <a:off x="785580" y="2200275"/>
            <a:ext cx="4301230" cy="40126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5251A9-E1DF-D90F-6BA5-FA6C4C39B106}"/>
              </a:ext>
            </a:extLst>
          </p:cNvPr>
          <p:cNvSpPr txBox="1"/>
          <p:nvPr/>
        </p:nvSpPr>
        <p:spPr>
          <a:xfrm>
            <a:off x="1152996" y="262453"/>
            <a:ext cx="9886007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b="1" dirty="0" err="1"/>
              <a:t>Mengubah</a:t>
            </a:r>
            <a:r>
              <a:rPr lang="en-ID" b="1" dirty="0"/>
              <a:t> </a:t>
            </a:r>
            <a:r>
              <a:rPr lang="en-ID" b="1" dirty="0" err="1"/>
              <a:t>urutan</a:t>
            </a:r>
            <a:r>
              <a:rPr lang="en-ID" b="1" dirty="0"/>
              <a:t> </a:t>
            </a:r>
            <a:r>
              <a:rPr lang="en-ID" b="1" dirty="0" err="1"/>
              <a:t>eksekusi</a:t>
            </a:r>
            <a:endParaRPr lang="en-ID" b="1" dirty="0"/>
          </a:p>
          <a:p>
            <a:pPr algn="just">
              <a:lnSpc>
                <a:spcPct val="150000"/>
              </a:lnSpc>
            </a:pPr>
            <a:r>
              <a:rPr lang="en-ID" dirty="0" err="1"/>
              <a:t>memotong</a:t>
            </a:r>
            <a:r>
              <a:rPr lang="en-ID" dirty="0"/>
              <a:t> </a:t>
            </a:r>
            <a:r>
              <a:rPr lang="en-ID" dirty="0" err="1"/>
              <a:t>hurufnya</a:t>
            </a:r>
            <a:r>
              <a:rPr lang="en-ID" dirty="0"/>
              <a:t>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r>
              <a:rPr lang="en-ID" dirty="0"/>
              <a:t>,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menggambar</a:t>
            </a:r>
            <a:r>
              <a:rPr lang="en-ID" dirty="0"/>
              <a:t> </a:t>
            </a:r>
            <a:r>
              <a:rPr lang="en-ID" dirty="0" err="1"/>
              <a:t>kotak</a:t>
            </a:r>
            <a:r>
              <a:rPr lang="en-ID" dirty="0"/>
              <a:t> </a:t>
            </a:r>
            <a:r>
              <a:rPr lang="en-ID" dirty="0" err="1"/>
              <a:t>visualisasinya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potongan</a:t>
            </a:r>
            <a:r>
              <a:rPr lang="en-ID" dirty="0"/>
              <a:t> </a:t>
            </a:r>
            <a:r>
              <a:rPr lang="en-ID" dirty="0" err="1"/>
              <a:t>pasti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 Ini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menjamin</a:t>
            </a:r>
            <a:r>
              <a:rPr lang="en-ID" dirty="0"/>
              <a:t> </a:t>
            </a:r>
            <a:r>
              <a:rPr lang="en-ID" dirty="0" err="1"/>
              <a:t>visualisasi</a:t>
            </a:r>
            <a:r>
              <a:rPr lang="en-ID" dirty="0"/>
              <a:t> 100% </a:t>
            </a:r>
            <a:r>
              <a:rPr lang="en-ID" dirty="0" err="1"/>
              <a:t>akurat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akhir</a:t>
            </a:r>
            <a:r>
              <a:rPr lang="en-ID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A28446-15E7-64D0-592D-CB92B76BA0BD}"/>
              </a:ext>
            </a:extLst>
          </p:cNvPr>
          <p:cNvSpPr txBox="1"/>
          <p:nvPr/>
        </p:nvSpPr>
        <p:spPr>
          <a:xfrm>
            <a:off x="5564023" y="2573317"/>
            <a:ext cx="609361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dirty="0" err="1"/>
              <a:t>Kegagalan</a:t>
            </a:r>
            <a:r>
              <a:rPr lang="en-ID" dirty="0"/>
              <a:t> </a:t>
            </a:r>
            <a:r>
              <a:rPr lang="en-ID" dirty="0" err="1"/>
              <a:t>mungkin</a:t>
            </a:r>
            <a:r>
              <a:rPr lang="en-ID" dirty="0"/>
              <a:t> 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menghitung</a:t>
            </a:r>
            <a:r>
              <a:rPr lang="en-ID" dirty="0"/>
              <a:t> </a:t>
            </a:r>
            <a:r>
              <a:rPr lang="en-ID" dirty="0" err="1"/>
              <a:t>dimensi</a:t>
            </a:r>
            <a:r>
              <a:rPr lang="en-ID" dirty="0"/>
              <a:t> Bounding Box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diakritiknya</a:t>
            </a:r>
            <a:r>
              <a:rPr lang="en-ID" dirty="0"/>
              <a:t>. Jarak </a:t>
            </a:r>
            <a:r>
              <a:rPr lang="en-ID" dirty="0" err="1"/>
              <a:t>diakritik</a:t>
            </a:r>
            <a:r>
              <a:rPr lang="en-ID" dirty="0"/>
              <a:t> Nun dan Ya' </a:t>
            </a:r>
            <a:r>
              <a:rPr lang="en-ID" dirty="0" err="1"/>
              <a:t>ke</a:t>
            </a:r>
            <a:r>
              <a:rPr lang="en-ID" dirty="0"/>
              <a:t> garis </a:t>
            </a:r>
            <a:r>
              <a:rPr lang="en-ID" dirty="0" err="1"/>
              <a:t>dasar</a:t>
            </a:r>
            <a:r>
              <a:rPr lang="en-ID" dirty="0"/>
              <a:t> (baseline) </a:t>
            </a:r>
            <a:r>
              <a:rPr lang="en-ID" dirty="0" err="1"/>
              <a:t>mendistorsi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total</a:t>
            </a:r>
          </a:p>
        </p:txBody>
      </p:sp>
    </p:spTree>
    <p:extLst>
      <p:ext uri="{BB962C8B-B14F-4D97-AF65-F5344CB8AC3E}">
        <p14:creationId xmlns:p14="http://schemas.microsoft.com/office/powerpoint/2010/main" val="3803788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8562D4-00C5-EFB6-8291-FD2AC577BD21}"/>
              </a:ext>
            </a:extLst>
          </p:cNvPr>
          <p:cNvSpPr txBox="1"/>
          <p:nvPr/>
        </p:nvSpPr>
        <p:spPr>
          <a:xfrm>
            <a:off x="5547122" y="2673647"/>
            <a:ext cx="609361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/>
              <a:t>Metode </a:t>
            </a:r>
            <a:r>
              <a:rPr lang="en-ID" b="1" dirty="0" err="1"/>
              <a:t>Penyelesaian</a:t>
            </a:r>
            <a:r>
              <a:rPr lang="en-ID" b="1" dirty="0"/>
              <a:t>: </a:t>
            </a:r>
            <a:r>
              <a:rPr lang="en-ID" dirty="0" err="1"/>
              <a:t>Pemisahan</a:t>
            </a:r>
            <a:r>
              <a:rPr lang="en-ID" dirty="0"/>
              <a:t> Masking Biner (Binary Mask Separation).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4E5BB6-7264-5638-5615-21980E54C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79" y="1264444"/>
            <a:ext cx="4782973" cy="4579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B585B0-2CE8-3271-823F-66EB64FE42D8}"/>
              </a:ext>
            </a:extLst>
          </p:cNvPr>
          <p:cNvSpPr txBox="1"/>
          <p:nvPr/>
        </p:nvSpPr>
        <p:spPr>
          <a:xfrm>
            <a:off x="5547122" y="4124091"/>
            <a:ext cx="6093618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bitwise AND (</a:t>
            </a:r>
            <a:r>
              <a:rPr lang="en-ID" dirty="0" err="1"/>
              <a:t>membandingkan</a:t>
            </a:r>
            <a:r>
              <a:rPr lang="en-ID" dirty="0"/>
              <a:t> 2 </a:t>
            </a:r>
            <a:r>
              <a:rPr lang="en-ID" dirty="0" err="1"/>
              <a:t>citra</a:t>
            </a:r>
            <a:r>
              <a:rPr lang="en-ID" dirty="0"/>
              <a:t>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mengisolasi</a:t>
            </a:r>
            <a:r>
              <a:rPr lang="en-ID" dirty="0"/>
              <a:t> </a:t>
            </a:r>
            <a:r>
              <a:rPr lang="en-ID" dirty="0" err="1"/>
              <a:t>matriks</a:t>
            </a:r>
            <a:r>
              <a:rPr lang="en-ID" dirty="0"/>
              <a:t> </a:t>
            </a:r>
            <a:r>
              <a:rPr lang="en-ID" i="1" dirty="0" err="1"/>
              <a:t>mainstroke</a:t>
            </a:r>
            <a:r>
              <a:rPr lang="en-ID" dirty="0"/>
              <a:t> (badan </a:t>
            </a:r>
            <a:r>
              <a:rPr lang="en-ID" dirty="0" err="1"/>
              <a:t>huruf</a:t>
            </a:r>
            <a:r>
              <a:rPr lang="en-ID" dirty="0"/>
              <a:t>)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matriks</a:t>
            </a:r>
            <a:r>
              <a:rPr lang="en-ID" dirty="0"/>
              <a:t> </a:t>
            </a:r>
            <a:r>
              <a:rPr lang="en-ID" dirty="0" err="1"/>
              <a:t>diakritik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ekstraksi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dimensi</a:t>
            </a:r>
            <a:r>
              <a:rPr lang="en-ID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3B16E6-FD6B-A6AE-4AD5-D69D27179A69}"/>
              </a:ext>
            </a:extLst>
          </p:cNvPr>
          <p:cNvSpPr txBox="1"/>
          <p:nvPr/>
        </p:nvSpPr>
        <p:spPr>
          <a:xfrm>
            <a:off x="5547122" y="408760"/>
            <a:ext cx="6093618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/>
              <a:t>Solusi </a:t>
            </a:r>
            <a:r>
              <a:rPr lang="en-ID" b="1" dirty="0" err="1"/>
              <a:t>saya</a:t>
            </a:r>
            <a:r>
              <a:rPr lang="en-ID" b="1" dirty="0"/>
              <a:t> : </a:t>
            </a:r>
            <a:r>
              <a:rPr lang="en-ID" dirty="0" err="1"/>
              <a:t>mengabaikan</a:t>
            </a:r>
            <a:r>
              <a:rPr lang="en-ID" dirty="0"/>
              <a:t> </a:t>
            </a:r>
            <a:r>
              <a:rPr lang="en-ID" dirty="0" err="1"/>
              <a:t>titik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menghitung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dan </a:t>
            </a:r>
            <a:r>
              <a:rPr lang="en-ID" dirty="0" err="1"/>
              <a:t>lebar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kotak</a:t>
            </a:r>
            <a:r>
              <a:rPr lang="en-ID" dirty="0"/>
              <a:t> </a:t>
            </a:r>
            <a:r>
              <a:rPr lang="en-ID" dirty="0" err="1"/>
              <a:t>visualisasi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mengukur</a:t>
            </a:r>
            <a:r>
              <a:rPr lang="en-ID" dirty="0"/>
              <a:t> "badan </a:t>
            </a:r>
            <a:r>
              <a:rPr lang="en-ID" dirty="0" err="1"/>
              <a:t>utama</a:t>
            </a:r>
            <a:r>
              <a:rPr lang="en-ID" dirty="0"/>
              <a:t>" </a:t>
            </a:r>
            <a:r>
              <a:rPr lang="en-ID" dirty="0" err="1"/>
              <a:t>hurufnya</a:t>
            </a:r>
            <a:r>
              <a:rPr lang="en-ID" dirty="0"/>
              <a:t> </a:t>
            </a:r>
            <a:r>
              <a:rPr lang="en-ID" dirty="0" err="1"/>
              <a:t>saja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08976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A9F875-B8BC-4D19-1288-4AE5CEC06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"/>
          <a:stretch>
            <a:fillRect/>
          </a:stretch>
        </p:blipFill>
        <p:spPr>
          <a:xfrm>
            <a:off x="485543" y="1285875"/>
            <a:ext cx="4729395" cy="4407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028249-61D2-0C00-3A8E-B598CBC5415C}"/>
              </a:ext>
            </a:extLst>
          </p:cNvPr>
          <p:cNvSpPr txBox="1"/>
          <p:nvPr/>
        </p:nvSpPr>
        <p:spPr>
          <a:xfrm>
            <a:off x="5591407" y="2200275"/>
            <a:ext cx="6115050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 err="1"/>
              <a:t>Masalah</a:t>
            </a:r>
            <a:r>
              <a:rPr lang="en-ID" b="1" dirty="0"/>
              <a:t> :</a:t>
            </a:r>
          </a:p>
          <a:p>
            <a:pPr>
              <a:lnSpc>
                <a:spcPct val="150000"/>
              </a:lnSpc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dimensi</a:t>
            </a:r>
            <a:r>
              <a:rPr lang="en-ID" dirty="0"/>
              <a:t> </a:t>
            </a:r>
            <a:r>
              <a:rPr lang="en-ID" dirty="0" err="1"/>
              <a:t>diperbaiki</a:t>
            </a:r>
            <a:r>
              <a:rPr lang="en-ID" dirty="0"/>
              <a:t>,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ambiguitas</a:t>
            </a:r>
            <a:r>
              <a:rPr lang="en-ID" dirty="0"/>
              <a:t> </a:t>
            </a:r>
            <a:r>
              <a:rPr lang="en-ID" dirty="0" err="1"/>
              <a:t>klasifikasi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. </a:t>
            </a:r>
            <a:r>
              <a:rPr lang="en-ID" dirty="0" err="1"/>
              <a:t>Karakter</a:t>
            </a:r>
            <a:r>
              <a:rPr lang="en-ID" dirty="0"/>
              <a:t> Sin, Nun, dan Ya'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tumpang</a:t>
            </a:r>
            <a:r>
              <a:rPr lang="en-ID" dirty="0"/>
              <a:t> </a:t>
            </a:r>
            <a:r>
              <a:rPr lang="en-ID" dirty="0" err="1"/>
              <a:t>tindih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ketiganya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properti</a:t>
            </a:r>
            <a:r>
              <a:rPr lang="en-ID" dirty="0"/>
              <a:t> </a:t>
            </a:r>
            <a:r>
              <a:rPr lang="en-ID" dirty="0" err="1"/>
              <a:t>geometris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: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mainstroke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di </a:t>
            </a:r>
            <a:r>
              <a:rPr lang="en-ID" dirty="0" err="1"/>
              <a:t>bawah</a:t>
            </a:r>
            <a:r>
              <a:rPr lang="en-ID" dirty="0"/>
              <a:t> threshold </a:t>
            </a:r>
            <a:r>
              <a:rPr lang="en-ID" dirty="0" err="1"/>
              <a:t>tiang</a:t>
            </a:r>
            <a:r>
              <a:rPr lang="en-ID" dirty="0"/>
              <a:t> (&lt; 45 </a:t>
            </a:r>
            <a:r>
              <a:rPr lang="en-ID" dirty="0" err="1"/>
              <a:t>piksel</a:t>
            </a:r>
            <a:r>
              <a:rPr lang="en-ID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31146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69F6F7-106B-86A3-10C6-AD64440786DA}"/>
              </a:ext>
            </a:extLst>
          </p:cNvPr>
          <p:cNvSpPr txBox="1"/>
          <p:nvPr/>
        </p:nvSpPr>
        <p:spPr>
          <a:xfrm>
            <a:off x="585788" y="405497"/>
            <a:ext cx="982622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dirty="0"/>
              <a:t>Metode </a:t>
            </a:r>
            <a:r>
              <a:rPr lang="en-ID" b="1" dirty="0" err="1"/>
              <a:t>Penyelesaian</a:t>
            </a:r>
            <a:r>
              <a:rPr lang="en-ID" b="1" dirty="0"/>
              <a:t>: </a:t>
            </a:r>
            <a:r>
              <a:rPr lang="en-ID" dirty="0" err="1"/>
              <a:t>Ekstraksi</a:t>
            </a:r>
            <a:r>
              <a:rPr lang="en-ID" dirty="0"/>
              <a:t> Fitur </a:t>
            </a:r>
            <a:r>
              <a:rPr lang="en-ID" dirty="0" err="1"/>
              <a:t>Topologi</a:t>
            </a:r>
            <a:r>
              <a:rPr lang="en-ID" dirty="0"/>
              <a:t> (Topological Endpoint Analysis).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EFF02-1EF0-ECB6-C802-7393A09D7495}"/>
              </a:ext>
            </a:extLst>
          </p:cNvPr>
          <p:cNvSpPr txBox="1"/>
          <p:nvPr/>
        </p:nvSpPr>
        <p:spPr>
          <a:xfrm>
            <a:off x="585788" y="870368"/>
            <a:ext cx="112014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dirty="0"/>
              <a:t>	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memampukan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</a:t>
            </a:r>
            <a:r>
              <a:rPr lang="en-ID" dirty="0" err="1"/>
              <a:t>layaknya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tulang</a:t>
            </a:r>
            <a:r>
              <a:rPr lang="en-ID" dirty="0"/>
              <a:t>.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</a:t>
            </a:r>
            <a:r>
              <a:rPr lang="en-ID" dirty="0" err="1"/>
              <a:t>ditulis</a:t>
            </a:r>
            <a:r>
              <a:rPr lang="en-ID" dirty="0"/>
              <a:t> </a:t>
            </a:r>
            <a:r>
              <a:rPr lang="en-ID" dirty="0" err="1"/>
              <a:t>agak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, </a:t>
            </a:r>
            <a:r>
              <a:rPr lang="en-ID" dirty="0" err="1"/>
              <a:t>mengecil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miring, </a:t>
            </a:r>
            <a:r>
              <a:rPr lang="en-ID" dirty="0" err="1"/>
              <a:t>namun</a:t>
            </a:r>
            <a:r>
              <a:rPr lang="en-ID" dirty="0"/>
              <a:t> "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" (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topologinya</a:t>
            </a:r>
            <a:r>
              <a:rPr lang="en-ID" dirty="0"/>
              <a:t>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properti</a:t>
            </a:r>
            <a:r>
              <a:rPr lang="en-ID" dirty="0"/>
              <a:t> </a:t>
            </a:r>
            <a:r>
              <a:rPr lang="en-ID" dirty="0" err="1"/>
              <a:t>bawaan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meski</a:t>
            </a:r>
            <a:r>
              <a:rPr lang="en-ID" dirty="0"/>
              <a:t> </a:t>
            </a:r>
            <a:r>
              <a:rPr lang="en-ID" dirty="0" err="1"/>
              <a:t>gaya</a:t>
            </a:r>
            <a:r>
              <a:rPr lang="en-ID" dirty="0"/>
              <a:t> tulisan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penulisnya</a:t>
            </a:r>
            <a:r>
              <a:rPr lang="en-ID" dirty="0"/>
              <a:t> </a:t>
            </a:r>
            <a:r>
              <a:rPr lang="en-ID" dirty="0" err="1"/>
              <a:t>berbeda-beda</a:t>
            </a:r>
            <a:r>
              <a:rPr lang="en-ID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D1735E-F429-9392-34FD-40259091C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88" y="2389725"/>
            <a:ext cx="4243621" cy="40627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1648DE-87FA-2257-2491-FAE9540A37AC}"/>
              </a:ext>
            </a:extLst>
          </p:cNvPr>
          <p:cNvSpPr txBox="1"/>
          <p:nvPr/>
        </p:nvSpPr>
        <p:spPr>
          <a:xfrm>
            <a:off x="5498902" y="3134409"/>
            <a:ext cx="5414962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"</a:t>
            </a:r>
            <a:r>
              <a:rPr lang="en-ID" dirty="0" err="1"/>
              <a:t>Menghitung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Ujung (Gigi)" di area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D" dirty="0"/>
              <a:t>Jika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b="1" dirty="0"/>
              <a:t>3 Ujung Atas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(sin)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fi-FI" dirty="0"/>
              <a:t>Jika ada </a:t>
            </a:r>
            <a:r>
              <a:rPr lang="fi-FI" b="1" dirty="0"/>
              <a:t>2 Ujung Atas + diakritik atas </a:t>
            </a:r>
            <a:r>
              <a:rPr lang="fi-FI" dirty="0"/>
              <a:t>(nun)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sv-SE" dirty="0"/>
              <a:t>Jika ada </a:t>
            </a:r>
            <a:r>
              <a:rPr lang="sv-SE" b="1" dirty="0"/>
              <a:t>1 Ujung Atas + diakritik bawah </a:t>
            </a:r>
            <a:r>
              <a:rPr lang="sv-SE" dirty="0"/>
              <a:t>(ya’)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sv-SE" dirty="0"/>
              <a:t>Jika ada </a:t>
            </a:r>
            <a:r>
              <a:rPr lang="sv-SE" b="1" dirty="0"/>
              <a:t>tiang tinggi </a:t>
            </a:r>
            <a:r>
              <a:rPr lang="sv-SE" dirty="0"/>
              <a:t>(lam)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10051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83BE2B8-F4D3-BDCE-42AE-3F271BF66437}"/>
              </a:ext>
            </a:extLst>
          </p:cNvPr>
          <p:cNvSpPr txBox="1"/>
          <p:nvPr/>
        </p:nvSpPr>
        <p:spPr>
          <a:xfrm>
            <a:off x="5688445" y="2573317"/>
            <a:ext cx="6089451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(</a:t>
            </a:r>
            <a:r>
              <a:rPr lang="en-ID" dirty="0" err="1"/>
              <a:t>dominasi</a:t>
            </a:r>
            <a:r>
              <a:rPr lang="en-ID" dirty="0"/>
              <a:t> </a:t>
            </a:r>
            <a:r>
              <a:rPr lang="en-ID" dirty="0" err="1"/>
              <a:t>diakritik</a:t>
            </a:r>
            <a:r>
              <a:rPr lang="en-ID" dirty="0"/>
              <a:t>) di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</a:t>
            </a:r>
            <a:r>
              <a:rPr lang="en-ID" dirty="0" err="1"/>
              <a:t>ya</a:t>
            </a:r>
            <a:r>
              <a:rPr lang="en-ID" dirty="0"/>
              <a:t>’ dan nun.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 </a:t>
            </a:r>
            <a:r>
              <a:rPr lang="en-ID" dirty="0" err="1"/>
              <a:t>lurus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dan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bawah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potongan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. </a:t>
            </a:r>
            <a:r>
              <a:rPr lang="en-ID" dirty="0" err="1"/>
              <a:t>Sehigga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membedakan</a:t>
            </a:r>
            <a:r>
              <a:rPr lang="en-ID" dirty="0"/>
              <a:t> </a:t>
            </a:r>
            <a:r>
              <a:rPr lang="en-ID" dirty="0" err="1"/>
              <a:t>huruf</a:t>
            </a:r>
            <a:r>
              <a:rPr lang="en-ID" dirty="0"/>
              <a:t> </a:t>
            </a:r>
            <a:r>
              <a:rPr lang="en-ID" dirty="0" err="1"/>
              <a:t>ya</a:t>
            </a:r>
            <a:r>
              <a:rPr lang="en-ID" dirty="0"/>
              <a:t>’ dan nun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FCC191-1E2F-0963-758C-61D64317F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4"/>
          <a:stretch>
            <a:fillRect/>
          </a:stretch>
        </p:blipFill>
        <p:spPr>
          <a:xfrm>
            <a:off x="414104" y="1285875"/>
            <a:ext cx="492474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47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E7F1BE-5A06-7786-9FFD-456DA2182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480" y="1276349"/>
            <a:ext cx="9361349" cy="430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44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D4133B-D020-D751-3BE1-B3E281075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43"/>
          <a:stretch>
            <a:fillRect/>
          </a:stretch>
        </p:blipFill>
        <p:spPr>
          <a:xfrm>
            <a:off x="656945" y="1914525"/>
            <a:ext cx="10878109" cy="353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68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5D55BB-EABB-E46D-F465-05C2BBFEBD26}"/>
              </a:ext>
            </a:extLst>
          </p:cNvPr>
          <p:cNvSpPr txBox="1"/>
          <p:nvPr/>
        </p:nvSpPr>
        <p:spPr>
          <a:xfrm>
            <a:off x="5755481" y="2921168"/>
            <a:ext cx="6810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5</a:t>
            </a:r>
            <a:endParaRPr lang="en-ID" sz="6000" b="1" dirty="0"/>
          </a:p>
        </p:txBody>
      </p:sp>
    </p:spTree>
    <p:extLst>
      <p:ext uri="{BB962C8B-B14F-4D97-AF65-F5344CB8AC3E}">
        <p14:creationId xmlns:p14="http://schemas.microsoft.com/office/powerpoint/2010/main" val="194423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10AB62-0076-9EFD-138C-2D1D5291F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828675"/>
            <a:ext cx="1009650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2667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95CAC2-6565-3035-8498-51FD6FC51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5" y="352425"/>
            <a:ext cx="1038225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966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B9662B-0FAD-585E-9628-768439F90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869" y="171179"/>
            <a:ext cx="8788421" cy="32578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8F364B-3A07-C324-6B7D-0B07B1CBB9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0522"/>
          <a:stretch>
            <a:fillRect/>
          </a:stretch>
        </p:blipFill>
        <p:spPr>
          <a:xfrm>
            <a:off x="64160" y="5148379"/>
            <a:ext cx="12127840" cy="153844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BA42BA-F1D8-E756-C601-1B7443C75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2" r="50000"/>
          <a:stretch>
            <a:fillRect/>
          </a:stretch>
        </p:blipFill>
        <p:spPr>
          <a:xfrm>
            <a:off x="195125" y="3429000"/>
            <a:ext cx="11801748" cy="153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87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BECA0-E5B9-5B46-F886-74764DD03247}"/>
              </a:ext>
            </a:extLst>
          </p:cNvPr>
          <p:cNvSpPr txBox="1"/>
          <p:nvPr/>
        </p:nvSpPr>
        <p:spPr>
          <a:xfrm>
            <a:off x="5986463" y="2843212"/>
            <a:ext cx="3486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6</a:t>
            </a:r>
            <a:endParaRPr lang="en-ID" sz="7200" b="1" dirty="0"/>
          </a:p>
        </p:txBody>
      </p:sp>
    </p:spTree>
    <p:extLst>
      <p:ext uri="{BB962C8B-B14F-4D97-AF65-F5344CB8AC3E}">
        <p14:creationId xmlns:p14="http://schemas.microsoft.com/office/powerpoint/2010/main" val="17882561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6CCD17-D054-5440-2C62-6EBB6F039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5" y="352425"/>
            <a:ext cx="1038225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83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50D4EB-01C5-F5E4-D4C4-BB7CB1019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517" y="0"/>
            <a:ext cx="7362966" cy="27466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FAC60F-6F5C-9CD1-D01C-D93969944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08" r="50195" b="-6548"/>
          <a:stretch>
            <a:fillRect/>
          </a:stretch>
        </p:blipFill>
        <p:spPr>
          <a:xfrm>
            <a:off x="641326" y="2986087"/>
            <a:ext cx="10909348" cy="151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DC7141-CD5F-D92E-222F-986F176B8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35" t="30808"/>
          <a:stretch>
            <a:fillRect/>
          </a:stretch>
        </p:blipFill>
        <p:spPr>
          <a:xfrm>
            <a:off x="641326" y="4740043"/>
            <a:ext cx="10984772" cy="138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06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F7A27-834C-D9CB-4557-0EE0A123E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707328"/>
              </p:ext>
            </p:extLst>
          </p:nvPr>
        </p:nvGraphicFramePr>
        <p:xfrm>
          <a:off x="469106" y="147351"/>
          <a:ext cx="11253788" cy="65106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9688">
                  <a:extLst>
                    <a:ext uri="{9D8B030D-6E8A-4147-A177-3AD203B41FA5}">
                      <a16:colId xmlns:a16="http://schemas.microsoft.com/office/drawing/2014/main" val="166424103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456831895"/>
                    </a:ext>
                  </a:extLst>
                </a:gridCol>
                <a:gridCol w="3438525">
                  <a:extLst>
                    <a:ext uri="{9D8B030D-6E8A-4147-A177-3AD203B41FA5}">
                      <a16:colId xmlns:a16="http://schemas.microsoft.com/office/drawing/2014/main" val="3068232877"/>
                    </a:ext>
                  </a:extLst>
                </a:gridCol>
              </a:tblGrid>
              <a:tr h="423811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Huruf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Kriteria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7651317"/>
                  </a:ext>
                </a:extLst>
              </a:tr>
              <a:tr h="645271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D" sz="1600" b="1" dirty="0" err="1"/>
                        <a:t>Syarat</a:t>
                      </a:r>
                      <a:r>
                        <a:rPr lang="en-ID" sz="1600" dirty="0"/>
                        <a:t>: </a:t>
                      </a:r>
                      <a:r>
                        <a:rPr lang="en-ID" sz="1600" dirty="0" err="1"/>
                        <a:t>Mangkuk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datar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penerima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titik</a:t>
                      </a:r>
                      <a:r>
                        <a:rPr lang="en-ID" sz="1600" dirty="0"/>
                        <a:t> di </a:t>
                      </a:r>
                      <a:r>
                        <a:rPr lang="en-ID" sz="1600" dirty="0" err="1"/>
                        <a:t>bawah</a:t>
                      </a:r>
                      <a:r>
                        <a:rPr lang="en-ID" sz="16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b="1" dirty="0"/>
                        <a:t>Parameter Kode</a:t>
                      </a:r>
                      <a:r>
                        <a:rPr lang="en-ID" sz="1600" dirty="0"/>
                        <a:t>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i-FI" sz="1600" dirty="0"/>
                        <a:t>Tinggi </a:t>
                      </a:r>
                      <a:r>
                        <a:rPr lang="fi-FI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fi-FI" sz="1600" dirty="0"/>
                        <a:t> 60 px dan kerangka mulus tanpa persimpangan sama sekali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ID" sz="1600" dirty="0" err="1"/>
                        <a:t>Mendapat</a:t>
                      </a:r>
                      <a:r>
                        <a:rPr lang="en-ID" sz="1600" dirty="0"/>
                        <a:t> 1 </a:t>
                      </a:r>
                      <a:r>
                        <a:rPr lang="en-ID" sz="1600" dirty="0" err="1"/>
                        <a:t>titik</a:t>
                      </a:r>
                      <a:r>
                        <a:rPr lang="en-ID" sz="1600" dirty="0"/>
                        <a:t> di "BAWAH", dan </a:t>
                      </a:r>
                      <a:r>
                        <a:rPr lang="en-ID" sz="1600" dirty="0" err="1"/>
                        <a:t>terdeteksi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sebagai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potongan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mangkuk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pendek</a:t>
                      </a:r>
                      <a:r>
                        <a:rPr lang="en-ID" sz="1600" dirty="0"/>
                        <a:t> (</a:t>
                      </a:r>
                      <a:r>
                        <a:rPr lang="en-ID" sz="1600" dirty="0" err="1"/>
                        <a:t>lebar</a:t>
                      </a:r>
                      <a:r>
                        <a:rPr lang="en-ID" sz="1600" dirty="0"/>
                        <a:t>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D" sz="1600" dirty="0"/>
                        <a:t> 35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tinggi</a:t>
                      </a:r>
                      <a:r>
                        <a:rPr lang="en-ID" sz="1600" dirty="0"/>
                        <a:t>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D" sz="1600" dirty="0"/>
                        <a:t> 45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934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dirty="0"/>
                        <a:t>: </a:t>
                      </a:r>
                      <a:r>
                        <a:rPr lang="en-ID" sz="1600" dirty="0"/>
                        <a:t>Garis </a:t>
                      </a:r>
                      <a:r>
                        <a:rPr lang="en-ID" sz="1600" dirty="0" err="1"/>
                        <a:t>meluncur</a:t>
                      </a:r>
                      <a:r>
                        <a:rPr lang="en-ID" sz="1600" dirty="0"/>
                        <a:t> miring </a:t>
                      </a:r>
                      <a:r>
                        <a:rPr lang="en-ID" sz="1600" dirty="0" err="1"/>
                        <a:t>ke</a:t>
                      </a:r>
                      <a:r>
                        <a:rPr lang="en-ID" sz="1600" dirty="0"/>
                        <a:t> kiri </a:t>
                      </a:r>
                      <a:r>
                        <a:rPr lang="en-ID" sz="1600" dirty="0" err="1"/>
                        <a:t>bawah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tidak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memiliki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bulatan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perut</a:t>
                      </a:r>
                      <a:r>
                        <a:rPr lang="en-ID" sz="1600" dirty="0"/>
                        <a:t>, dan </a:t>
                      </a:r>
                      <a:r>
                        <a:rPr lang="en-ID" sz="1600" dirty="0" err="1"/>
                        <a:t>ujung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bawahnya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tidak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menukik</a:t>
                      </a:r>
                      <a:r>
                        <a:rPr lang="en-ID" sz="1600" dirty="0"/>
                        <a:t> naik </a:t>
                      </a:r>
                      <a:r>
                        <a:rPr lang="en-ID" sz="1600" dirty="0" err="1"/>
                        <a:t>membentuk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mangkuk</a:t>
                      </a:r>
                      <a:r>
                        <a:rPr lang="en-ID" sz="16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ID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Parameter Dasar:</a:t>
                      </a:r>
                      <a:r>
                        <a:rPr lang="en-ID" sz="1600" dirty="0"/>
                        <a:t> Tinggi </a:t>
                      </a:r>
                      <a:r>
                        <a:rPr lang="en-ID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D" sz="1600" dirty="0"/>
                        <a:t> 75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lebar</a:t>
                      </a:r>
                      <a:r>
                        <a:rPr lang="en-ID" sz="1600" dirty="0"/>
                        <a:t> 8-55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tanpa</a:t>
                      </a:r>
                      <a:r>
                        <a:rPr lang="en-ID" sz="1600" dirty="0"/>
                        <a:t> </a:t>
                      </a:r>
                      <a:r>
                        <a:rPr lang="en-ID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loop</a:t>
                      </a:r>
                      <a:r>
                        <a:rPr lang="en-ID" sz="1600" dirty="0"/>
                        <a:t> </a:t>
                      </a:r>
                      <a:r>
                        <a:rPr lang="en-ID" sz="1600" b="1" dirty="0"/>
                        <a:t>Parameter </a:t>
                      </a:r>
                      <a:r>
                        <a:rPr lang="en-ID" sz="1600" b="1" dirty="0" err="1"/>
                        <a:t>Kemiringan</a:t>
                      </a:r>
                      <a:r>
                        <a:rPr lang="en-ID" sz="1600" b="1" dirty="0"/>
                        <a:t>:</a:t>
                      </a:r>
                      <a:r>
                        <a:rPr lang="en-ID" sz="1600" dirty="0"/>
                        <a:t> Ujung kiri </a:t>
                      </a:r>
                      <a:r>
                        <a:rPr lang="en-ID" sz="1600" dirty="0" err="1"/>
                        <a:t>harus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lebih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rendah</a:t>
                      </a:r>
                      <a:r>
                        <a:rPr lang="en-ID" sz="1600" dirty="0"/>
                        <a:t> minimal 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dari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ujung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kanan</a:t>
                      </a:r>
                      <a:r>
                        <a:rPr lang="en-ID" sz="1600" dirty="0"/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ID" sz="1600" b="1" dirty="0"/>
                        <a:t>Parameter Anti-</a:t>
                      </a:r>
                      <a:r>
                        <a:rPr lang="en-ID" sz="1600" b="1" dirty="0" err="1"/>
                        <a:t>Mangkuk</a:t>
                      </a:r>
                      <a:r>
                        <a:rPr lang="en-ID" sz="1600" b="1" dirty="0"/>
                        <a:t>:</a:t>
                      </a:r>
                      <a:r>
                        <a:rPr lang="en-ID" sz="1600" dirty="0"/>
                        <a:t> Ujung kiri </a:t>
                      </a:r>
                      <a:r>
                        <a:rPr lang="en-ID" sz="1600" dirty="0" err="1"/>
                        <a:t>tersebut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harus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menjadi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titik</a:t>
                      </a:r>
                      <a:r>
                        <a:rPr lang="en-ID" sz="1600" dirty="0"/>
                        <a:t> paling </a:t>
                      </a:r>
                      <a:r>
                        <a:rPr lang="en-ID" sz="1600" dirty="0" err="1"/>
                        <a:t>dasar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dari</a:t>
                      </a:r>
                      <a:r>
                        <a:rPr lang="en-ID" sz="1600" dirty="0"/>
                        <a:t> badan </a:t>
                      </a:r>
                      <a:r>
                        <a:rPr lang="en-ID" sz="1600" dirty="0" err="1"/>
                        <a:t>huruf</a:t>
                      </a:r>
                      <a:r>
                        <a:rPr lang="en-ID" sz="1600" dirty="0"/>
                        <a:t> (</a:t>
                      </a:r>
                      <a:r>
                        <a:rPr lang="en-ID" sz="1600" dirty="0" err="1"/>
                        <a:t>toleransi</a:t>
                      </a:r>
                      <a:r>
                        <a:rPr lang="en-ID" sz="1600" dirty="0"/>
                        <a:t> 10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4174855"/>
                  </a:ext>
                </a:extLst>
              </a:tr>
              <a:tr h="1911053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dirty="0" err="1"/>
                        <a:t>Syarat</a:t>
                      </a:r>
                      <a:r>
                        <a:rPr lang="en-US" sz="1600" b="1" i="0" dirty="0"/>
                        <a:t>:</a:t>
                      </a:r>
                      <a:r>
                        <a:rPr lang="en-ID" sz="1600" b="1" i="0" dirty="0"/>
                        <a:t> </a:t>
                      </a:r>
                      <a:r>
                        <a:rPr lang="en-ID" sz="1600" dirty="0" err="1"/>
                        <a:t>Strukturnya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sama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Ha' (</a:t>
                      </a:r>
                      <a:r>
                        <a:rPr lang="en-ID" sz="1600" dirty="0" err="1"/>
                        <a:t>memiliki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bulatan</a:t>
                      </a:r>
                      <a:r>
                        <a:rPr lang="en-ID" sz="1600" dirty="0"/>
                        <a:t>), </a:t>
                      </a:r>
                      <a:r>
                        <a:rPr lang="en-ID" sz="1600" dirty="0" err="1"/>
                        <a:t>namun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posisi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bulatannya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berada</a:t>
                      </a:r>
                      <a:r>
                        <a:rPr lang="en-ID" sz="1600" dirty="0"/>
                        <a:t> di </a:t>
                      </a:r>
                      <a:r>
                        <a:rPr lang="en-ID" sz="1600" dirty="0" err="1"/>
                        <a:t>ujung</a:t>
                      </a:r>
                      <a:r>
                        <a:rPr lang="en-ID" sz="1600" dirty="0"/>
                        <a:t> paling </a:t>
                      </a:r>
                      <a:r>
                        <a:rPr lang="en-ID" sz="1600" dirty="0" err="1"/>
                        <a:t>atas</a:t>
                      </a:r>
                      <a:r>
                        <a:rPr lang="en-ID" sz="1600" dirty="0"/>
                        <a:t>.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600" b="1" dirty="0"/>
                        <a:t>Parameter :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600" b="1" dirty="0"/>
                        <a:t>- </a:t>
                      </a:r>
                      <a:r>
                        <a:rPr lang="en-ID" sz="1600" dirty="0"/>
                        <a:t>Tinggi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D" sz="1600" dirty="0"/>
                        <a:t> 60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lebar</a:t>
                      </a:r>
                      <a:r>
                        <a:rPr lang="en-ID" sz="1600" dirty="0"/>
                        <a:t>  60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memiliki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tepat</a:t>
                      </a:r>
                      <a:r>
                        <a:rPr lang="en-ID" sz="1600" dirty="0"/>
                        <a:t> 1 </a:t>
                      </a:r>
                      <a:r>
                        <a:rPr lang="en-ID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loop</a:t>
                      </a:r>
                      <a:r>
                        <a:rPr lang="en-ID" sz="1600" dirty="0"/>
                        <a:t>, dan batas </a:t>
                      </a:r>
                      <a:r>
                        <a:rPr lang="en-ID" sz="1600" dirty="0" err="1"/>
                        <a:t>atas</a:t>
                      </a:r>
                      <a:r>
                        <a:rPr lang="en-ID" sz="1600" dirty="0"/>
                        <a:t> </a:t>
                      </a:r>
                      <a:r>
                        <a:rPr lang="en-ID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loop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tersebut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berada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maksimal</a:t>
                      </a:r>
                      <a:r>
                        <a:rPr lang="en-ID" sz="1600" dirty="0"/>
                        <a:t> 20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dari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puncak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tertinggi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huruf</a:t>
                      </a:r>
                      <a:r>
                        <a:rPr lang="en-ID" sz="1600" dirty="0"/>
                        <a:t>.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604535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C72A47C-4886-4F16-DAB4-FA10556F2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37" y="1151042"/>
            <a:ext cx="4524608" cy="8890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FC3CC9-AD7D-B248-996D-564392F1EA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35" y="3043779"/>
            <a:ext cx="4524610" cy="8890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7840C0-5B4B-8446-EC95-B8269D4D1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37" y="5262435"/>
            <a:ext cx="4524608" cy="88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57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5A9D74-8FA5-74A1-C1B3-C76B557C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077114"/>
              </p:ext>
            </p:extLst>
          </p:nvPr>
        </p:nvGraphicFramePr>
        <p:xfrm>
          <a:off x="469106" y="147351"/>
          <a:ext cx="11253788" cy="6191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9688">
                  <a:extLst>
                    <a:ext uri="{9D8B030D-6E8A-4147-A177-3AD203B41FA5}">
                      <a16:colId xmlns:a16="http://schemas.microsoft.com/office/drawing/2014/main" val="166424103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456831895"/>
                    </a:ext>
                  </a:extLst>
                </a:gridCol>
                <a:gridCol w="3438525">
                  <a:extLst>
                    <a:ext uri="{9D8B030D-6E8A-4147-A177-3AD203B41FA5}">
                      <a16:colId xmlns:a16="http://schemas.microsoft.com/office/drawing/2014/main" val="3068232877"/>
                    </a:ext>
                  </a:extLst>
                </a:gridCol>
              </a:tblGrid>
              <a:tr h="423811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Huruf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Kriteria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7651317"/>
                  </a:ext>
                </a:extLst>
              </a:tr>
              <a:tr h="1314788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: </a:t>
                      </a:r>
                      <a:r>
                        <a:rPr lang="en-ID" sz="1600" dirty="0" err="1"/>
                        <a:t>Tiang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pendek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lurus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berdiri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sendiri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mutlak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tanpa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embel-embel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titik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atau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bulatan</a:t>
                      </a:r>
                      <a:r>
                        <a:rPr lang="en-ID" sz="16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Parameter: </a:t>
                      </a:r>
                    </a:p>
                    <a:p>
                      <a:r>
                        <a:rPr lang="en-US" sz="1600" b="1" dirty="0"/>
                        <a:t>- </a:t>
                      </a:r>
                      <a:r>
                        <a:rPr lang="en-ID" sz="1600" dirty="0" err="1"/>
                        <a:t>Mutlak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tanpa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titik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tinggi</a:t>
                      </a:r>
                      <a:r>
                        <a:rPr lang="en-ID" sz="1600" dirty="0"/>
                        <a:t>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ID" sz="1600" dirty="0"/>
                        <a:t> 30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lebar</a:t>
                      </a:r>
                      <a:r>
                        <a:rPr lang="en-ID" sz="1600" dirty="0"/>
                        <a:t> sangat </a:t>
                      </a:r>
                      <a:r>
                        <a:rPr lang="en-ID" sz="1600" dirty="0" err="1"/>
                        <a:t>sempit</a:t>
                      </a:r>
                      <a:r>
                        <a:rPr lang="en-ID" sz="1600" dirty="0"/>
                        <a:t> (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D" sz="1600" dirty="0"/>
                        <a:t>25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), dan </a:t>
                      </a:r>
                      <a:r>
                        <a:rPr lang="en-ID" sz="1600" dirty="0" err="1"/>
                        <a:t>mutlak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tanpa</a:t>
                      </a:r>
                      <a:r>
                        <a:rPr lang="en-ID" sz="1600" dirty="0"/>
                        <a:t> </a:t>
                      </a:r>
                      <a:r>
                        <a:rPr lang="en-ID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loop</a:t>
                      </a:r>
                      <a:r>
                        <a:rPr lang="en-ID" sz="1600" dirty="0"/>
                        <a:t> (</a:t>
                      </a:r>
                      <a:r>
                        <a:rPr lang="en-ID" sz="1600" dirty="0" err="1"/>
                        <a:t>bulatan</a:t>
                      </a:r>
                      <a:r>
                        <a:rPr lang="en-ID" sz="1600" dirty="0"/>
                        <a:t>).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9342947"/>
                  </a:ext>
                </a:extLst>
              </a:tr>
              <a:tr h="1289938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 : </a:t>
                      </a:r>
                      <a:r>
                        <a:rPr lang="en-ID" sz="1600" dirty="0" err="1"/>
                        <a:t>Mangkuk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datar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penerima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titik</a:t>
                      </a:r>
                      <a:r>
                        <a:rPr lang="en-ID" sz="1600" dirty="0"/>
                        <a:t> di </a:t>
                      </a:r>
                      <a:r>
                        <a:rPr lang="en-ID" sz="1600" dirty="0" err="1"/>
                        <a:t>bawah</a:t>
                      </a:r>
                      <a:r>
                        <a:rPr lang="en-ID" sz="1600" dirty="0"/>
                        <a:t>.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b="1" dirty="0"/>
                        <a:t>Parameter Kode</a:t>
                      </a:r>
                      <a:r>
                        <a:rPr lang="en-ID" sz="1600" dirty="0"/>
                        <a:t>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i-FI" sz="1600" dirty="0"/>
                        <a:t>Tinggi </a:t>
                      </a:r>
                      <a:r>
                        <a:rPr lang="fi-FI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fi-FI" sz="1600" dirty="0"/>
                        <a:t> 60 px dan kerangka mulus tanpa persimpangan sama sekali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ID" sz="1600" dirty="0" err="1"/>
                        <a:t>Mendapat</a:t>
                      </a:r>
                      <a:r>
                        <a:rPr lang="en-ID" sz="1600" dirty="0"/>
                        <a:t> 1 </a:t>
                      </a:r>
                      <a:r>
                        <a:rPr lang="en-ID" sz="1600" dirty="0" err="1"/>
                        <a:t>titik</a:t>
                      </a:r>
                      <a:r>
                        <a:rPr lang="en-ID" sz="1600" dirty="0"/>
                        <a:t> di "BAWAH", dan </a:t>
                      </a:r>
                      <a:r>
                        <a:rPr lang="en-ID" sz="1600" dirty="0" err="1"/>
                        <a:t>terdeteksi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sebagai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potongan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mangkuk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pendek</a:t>
                      </a:r>
                      <a:r>
                        <a:rPr lang="en-ID" sz="1600" dirty="0"/>
                        <a:t> (</a:t>
                      </a:r>
                      <a:r>
                        <a:rPr lang="en-ID" sz="1600" dirty="0" err="1"/>
                        <a:t>lebar</a:t>
                      </a:r>
                      <a:r>
                        <a:rPr lang="en-ID" sz="1600" dirty="0"/>
                        <a:t>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D" sz="1600" dirty="0"/>
                        <a:t> 35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tinggi</a:t>
                      </a:r>
                      <a:r>
                        <a:rPr lang="en-ID" sz="1600" dirty="0"/>
                        <a:t>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D" sz="1600" dirty="0"/>
                        <a:t> 45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4174855"/>
                  </a:ext>
                </a:extLst>
              </a:tr>
              <a:tr h="1289939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: </a:t>
                      </a:r>
                      <a:r>
                        <a:rPr lang="en-ID" sz="1600" dirty="0" err="1"/>
                        <a:t>Huruf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berukuran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relatif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pendek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strukturnya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memiliki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kepala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melingkar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Parameter:</a:t>
                      </a:r>
                    </a:p>
                    <a:p>
                      <a:r>
                        <a:rPr lang="en-US" sz="1600" b="1" dirty="0"/>
                        <a:t>- </a:t>
                      </a:r>
                      <a:r>
                        <a:rPr lang="en-ID" sz="1600" i="0" dirty="0" err="1"/>
                        <a:t>wajib</a:t>
                      </a:r>
                      <a:r>
                        <a:rPr lang="en-ID" sz="1600" i="0" dirty="0"/>
                        <a:t> </a:t>
                      </a:r>
                      <a:r>
                        <a:rPr lang="en-ID" sz="1600" i="0" dirty="0" err="1"/>
                        <a:t>memiliki</a:t>
                      </a:r>
                      <a:r>
                        <a:rPr lang="en-ID" sz="1600" i="0" dirty="0"/>
                        <a:t>  1 loop, dan </a:t>
                      </a:r>
                      <a:r>
                        <a:rPr lang="en-ID" sz="1600" i="0" dirty="0" err="1"/>
                        <a:t>maksimal</a:t>
                      </a:r>
                      <a:r>
                        <a:rPr lang="en-ID" sz="1600" i="0" dirty="0"/>
                        <a:t> </a:t>
                      </a:r>
                      <a:r>
                        <a:rPr lang="en-ID" sz="1600" i="0" dirty="0" err="1"/>
                        <a:t>hanya</a:t>
                      </a:r>
                      <a:r>
                        <a:rPr lang="en-ID" sz="1600" i="0" dirty="0"/>
                        <a:t> </a:t>
                      </a:r>
                      <a:r>
                        <a:rPr lang="en-ID" sz="1600" i="0" dirty="0" err="1"/>
                        <a:t>memiliki</a:t>
                      </a:r>
                      <a:r>
                        <a:rPr lang="en-ID" sz="1600" i="0" dirty="0"/>
                        <a:t> 1 </a:t>
                      </a:r>
                      <a:r>
                        <a:rPr lang="en-ID" sz="1600" i="0" dirty="0" err="1"/>
                        <a:t>ujung</a:t>
                      </a:r>
                      <a:r>
                        <a:rPr lang="en-ID" sz="1600" i="0" dirty="0"/>
                        <a:t> garis </a:t>
                      </a:r>
                      <a:r>
                        <a:rPr lang="en-ID" sz="1600" i="0" dirty="0" err="1"/>
                        <a:t>terbuka</a:t>
                      </a:r>
                      <a:r>
                        <a:rPr lang="en-ID" sz="1600" i="0" dirty="0"/>
                        <a:t> (endpoints).</a:t>
                      </a:r>
                      <a:endParaRPr lang="en-ID" sz="1600" b="1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0519491"/>
                  </a:ext>
                </a:extLst>
              </a:tr>
              <a:tr h="127361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: </a:t>
                      </a:r>
                      <a:r>
                        <a:rPr lang="en-ID" sz="1600" dirty="0" err="1"/>
                        <a:t>Mangkuk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memiliki</a:t>
                      </a:r>
                      <a:r>
                        <a:rPr lang="en-ID" sz="1600" dirty="0"/>
                        <a:t> 3 </a:t>
                      </a:r>
                      <a:r>
                        <a:rPr lang="en-ID" sz="1600" dirty="0" err="1"/>
                        <a:t>gigi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berderet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menghadap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ke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atas</a:t>
                      </a:r>
                      <a:r>
                        <a:rPr lang="en-ID" sz="1600" dirty="0"/>
                        <a:t>.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Parameter:</a:t>
                      </a:r>
                    </a:p>
                    <a:p>
                      <a:r>
                        <a:rPr lang="en-US" sz="1600" b="1" dirty="0"/>
                        <a:t>- </a:t>
                      </a:r>
                      <a:r>
                        <a:rPr lang="en-ID" sz="1600" dirty="0"/>
                        <a:t>Tinggi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D" sz="1600" dirty="0"/>
                        <a:t> 45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, dan </a:t>
                      </a:r>
                      <a:r>
                        <a:rPr lang="en-ID" sz="1600" dirty="0" err="1"/>
                        <a:t>terdeteksi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memiliki</a:t>
                      </a:r>
                      <a:r>
                        <a:rPr lang="en-ID" sz="1600" dirty="0"/>
                        <a:t> 3 </a:t>
                      </a:r>
                      <a:r>
                        <a:rPr lang="en-ID" sz="1600" dirty="0" err="1"/>
                        <a:t>ujung</a:t>
                      </a:r>
                      <a:r>
                        <a:rPr lang="en-ID" sz="1600" dirty="0"/>
                        <a:t> garis yang </a:t>
                      </a:r>
                      <a:r>
                        <a:rPr lang="en-ID" sz="1600" dirty="0" err="1"/>
                        <a:t>menghadap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lurus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ke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atas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648152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F21132C5-D476-5EBF-B14D-40E9668FC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68" y="782591"/>
            <a:ext cx="4524610" cy="8890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D53F86-D0AE-54BF-8B0A-416BF97DB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35" y="2045508"/>
            <a:ext cx="4776275" cy="938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41EC4F7-BCBD-2813-AD04-0B5966A75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35" y="3917432"/>
            <a:ext cx="4776275" cy="9384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ED5E4C-4ABC-3321-E04B-55BF4B5543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66" y="5229799"/>
            <a:ext cx="4524610" cy="88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658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DB0A8C-2D16-B93D-D3C0-0D8007223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779601"/>
              </p:ext>
            </p:extLst>
          </p:nvPr>
        </p:nvGraphicFramePr>
        <p:xfrm>
          <a:off x="469106" y="147351"/>
          <a:ext cx="11253788" cy="4969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9688">
                  <a:extLst>
                    <a:ext uri="{9D8B030D-6E8A-4147-A177-3AD203B41FA5}">
                      <a16:colId xmlns:a16="http://schemas.microsoft.com/office/drawing/2014/main" val="166424103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456831895"/>
                    </a:ext>
                  </a:extLst>
                </a:gridCol>
                <a:gridCol w="3438525">
                  <a:extLst>
                    <a:ext uri="{9D8B030D-6E8A-4147-A177-3AD203B41FA5}">
                      <a16:colId xmlns:a16="http://schemas.microsoft.com/office/drawing/2014/main" val="3068232877"/>
                    </a:ext>
                  </a:extLst>
                </a:gridCol>
              </a:tblGrid>
              <a:tr h="423811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Huruf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Kriteria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7651317"/>
                  </a:ext>
                </a:extLst>
              </a:tr>
              <a:tr h="1314788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: </a:t>
                      </a:r>
                      <a:r>
                        <a:rPr lang="en-ID" sz="1600" dirty="0" err="1"/>
                        <a:t>Huruf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berupa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tiang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vertikal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tinggi</a:t>
                      </a:r>
                      <a:r>
                        <a:rPr lang="en-ID" sz="1600" dirty="0"/>
                        <a:t> dan ramping.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Parameter:</a:t>
                      </a:r>
                    </a:p>
                    <a:p>
                      <a:r>
                        <a:rPr lang="en-US" sz="1600" b="1" dirty="0"/>
                        <a:t>- </a:t>
                      </a:r>
                      <a:r>
                        <a:rPr lang="en-ID" sz="1600" dirty="0"/>
                        <a:t>Tinggi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en-ID" sz="1600" dirty="0"/>
                        <a:t>45 </a:t>
                      </a:r>
                      <a:r>
                        <a:rPr lang="en-ID" sz="1600" dirty="0" err="1"/>
                        <a:t>piksel</a:t>
                      </a:r>
                      <a:r>
                        <a:rPr lang="en-ID" sz="1600" dirty="0"/>
                        <a:t>, dan </a:t>
                      </a:r>
                      <a:r>
                        <a:rPr lang="en-ID" sz="1600" dirty="0" err="1"/>
                        <a:t>proporsi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tinggi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harus</a:t>
                      </a:r>
                      <a:r>
                        <a:rPr lang="en-ID" sz="1600" dirty="0"/>
                        <a:t>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ID" sz="1600" dirty="0"/>
                        <a:t> 1.2 kali </a:t>
                      </a:r>
                      <a:r>
                        <a:rPr lang="en-ID" sz="1600" dirty="0" err="1"/>
                        <a:t>lipat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lebarnya</a:t>
                      </a:r>
                      <a:r>
                        <a:rPr lang="en-ID" sz="1600" dirty="0"/>
                        <a:t>.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9342947"/>
                  </a:ext>
                </a:extLst>
              </a:tr>
              <a:tr h="1289938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: </a:t>
                      </a:r>
                      <a:r>
                        <a:rPr lang="en-ID" sz="1600" dirty="0" err="1"/>
                        <a:t>Mangkuk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memiliki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lekukan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perut</a:t>
                      </a:r>
                      <a:r>
                        <a:rPr lang="en-ID" sz="1600" dirty="0"/>
                        <a:t>/</a:t>
                      </a:r>
                      <a:r>
                        <a:rPr lang="en-ID" sz="1600" dirty="0" err="1"/>
                        <a:t>persimpangan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melengkung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ke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belakang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atau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secara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mutlak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menyerap</a:t>
                      </a:r>
                      <a:r>
                        <a:rPr lang="en-ID" sz="1600" dirty="0"/>
                        <a:t> 2 </a:t>
                      </a:r>
                      <a:r>
                        <a:rPr lang="en-ID" sz="1600" dirty="0" err="1"/>
                        <a:t>titik</a:t>
                      </a:r>
                      <a:r>
                        <a:rPr lang="en-ID" sz="1600" dirty="0"/>
                        <a:t> di </a:t>
                      </a:r>
                      <a:r>
                        <a:rPr lang="en-ID" sz="1600" dirty="0" err="1"/>
                        <a:t>bawah</a:t>
                      </a:r>
                      <a:r>
                        <a:rPr lang="en-ID" sz="1600" dirty="0"/>
                        <a:t>.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Parameter: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ID" sz="1600" dirty="0" err="1"/>
                        <a:t>jika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titiknya</a:t>
                      </a:r>
                      <a:r>
                        <a:rPr lang="en-ID" sz="1600" dirty="0"/>
                        <a:t> 2 di "BAWAH", ATAU </a:t>
                      </a:r>
                      <a:r>
                        <a:rPr lang="en-ID" sz="1600" dirty="0" err="1"/>
                        <a:t>memiliki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persimpangan</a:t>
                      </a:r>
                      <a:r>
                        <a:rPr lang="en-ID" sz="1600" dirty="0"/>
                        <a:t> garis (</a:t>
                      </a:r>
                      <a:r>
                        <a:rPr lang="en-ID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intersections</a:t>
                      </a:r>
                      <a:r>
                        <a:rPr lang="en-ID" sz="1600" dirty="0"/>
                        <a:t>)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tinggi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huruf</a:t>
                      </a:r>
                      <a:r>
                        <a:rPr lang="en-ID" sz="1600" dirty="0"/>
                        <a:t>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D" sz="1600" dirty="0"/>
                        <a:t> 40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. </a:t>
                      </a:r>
                      <a:r>
                        <a:rPr lang="en-ID" sz="1600" dirty="0" err="1"/>
                        <a:t>bentuknya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harus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kecil</a:t>
                      </a:r>
                      <a:r>
                        <a:rPr lang="en-ID" sz="1600" dirty="0"/>
                        <a:t> (Lebar &amp; Tinggi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ID" sz="1600" dirty="0"/>
                        <a:t> 35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)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4174855"/>
                  </a:ext>
                </a:extLst>
              </a:tr>
              <a:tr h="1289939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: </a:t>
                      </a:r>
                      <a:r>
                        <a:rPr lang="nb-NO" sz="1600" dirty="0"/>
                        <a:t>Mangkuk dalam yang lebarnya cukup proporsional dan mutlak menyerap titik di posisi atas.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Parameter: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ID" sz="1600" dirty="0"/>
                        <a:t>Tinggi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</a:t>
                      </a:r>
                      <a:r>
                        <a:rPr lang="en-ID" sz="1600" dirty="0"/>
                        <a:t>55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, </a:t>
                      </a:r>
                      <a:r>
                        <a:rPr lang="en-ID" sz="1600" dirty="0" err="1"/>
                        <a:t>lebar</a:t>
                      </a:r>
                      <a:r>
                        <a:rPr lang="en-ID" sz="1600" dirty="0"/>
                        <a:t> </a:t>
                      </a:r>
                      <a:r>
                        <a:rPr lang="en-ID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ID" sz="1600" dirty="0"/>
                        <a:t> 35 </a:t>
                      </a:r>
                      <a:r>
                        <a:rPr lang="en-ID" sz="1600" dirty="0" err="1"/>
                        <a:t>px</a:t>
                      </a:r>
                      <a:r>
                        <a:rPr lang="en-ID" sz="1600" dirty="0"/>
                        <a:t>, dan </a:t>
                      </a:r>
                      <a:r>
                        <a:rPr lang="en-ID" sz="1600" dirty="0" err="1"/>
                        <a:t>wajib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memiliki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titik</a:t>
                      </a:r>
                      <a:r>
                        <a:rPr lang="en-ID" sz="1600" dirty="0"/>
                        <a:t> di "ATAS".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ID" sz="1600" dirty="0" err="1"/>
                        <a:t>Memiliki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tepat</a:t>
                      </a:r>
                      <a:r>
                        <a:rPr lang="en-ID" sz="1600" dirty="0"/>
                        <a:t> 2 </a:t>
                      </a:r>
                      <a:r>
                        <a:rPr lang="en-ID" sz="1600" dirty="0" err="1"/>
                        <a:t>gigi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atas</a:t>
                      </a:r>
                      <a:r>
                        <a:rPr lang="en-ID" sz="1600" dirty="0"/>
                        <a:t> (</a:t>
                      </a:r>
                      <a:r>
                        <a:rPr lang="en-ID" sz="1600" dirty="0" err="1"/>
                        <a:t>atau</a:t>
                      </a:r>
                      <a:r>
                        <a:rPr lang="en-ID" sz="1600" dirty="0"/>
                        <a:t> 0 </a:t>
                      </a:r>
                      <a:r>
                        <a:rPr lang="en-ID" sz="1600" dirty="0" err="1"/>
                        <a:t>gigi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tapi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mangkuk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berukuran</a:t>
                      </a:r>
                      <a:r>
                        <a:rPr lang="en-ID" sz="1600" dirty="0"/>
                        <a:t> sangat </a:t>
                      </a:r>
                      <a:r>
                        <a:rPr lang="en-ID" sz="1600" dirty="0" err="1"/>
                        <a:t>lebar</a:t>
                      </a:r>
                      <a:r>
                        <a:rPr lang="en-ID" sz="1600" dirty="0"/>
                        <a:t>).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0519491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671EBE00-0297-C420-D479-9D1CB8B86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95" y="797337"/>
            <a:ext cx="4524610" cy="8890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ADFF17F-6AF0-0970-D5F2-E8781ABAB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95" y="2011375"/>
            <a:ext cx="4524609" cy="8890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790A688-0E41-27E7-1A5F-DBE6ACD09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95" y="3671887"/>
            <a:ext cx="4524610" cy="88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436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D63BB4-FB94-A712-91CC-0C825620E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061828"/>
              </p:ext>
            </p:extLst>
          </p:nvPr>
        </p:nvGraphicFramePr>
        <p:xfrm>
          <a:off x="469106" y="147351"/>
          <a:ext cx="11253788" cy="55920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9688">
                  <a:extLst>
                    <a:ext uri="{9D8B030D-6E8A-4147-A177-3AD203B41FA5}">
                      <a16:colId xmlns:a16="http://schemas.microsoft.com/office/drawing/2014/main" val="166424103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456831895"/>
                    </a:ext>
                  </a:extLst>
                </a:gridCol>
                <a:gridCol w="3438525">
                  <a:extLst>
                    <a:ext uri="{9D8B030D-6E8A-4147-A177-3AD203B41FA5}">
                      <a16:colId xmlns:a16="http://schemas.microsoft.com/office/drawing/2014/main" val="3068232877"/>
                    </a:ext>
                  </a:extLst>
                </a:gridCol>
              </a:tblGrid>
              <a:tr h="423811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Huruf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Kriteria</a:t>
                      </a:r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7651317"/>
                  </a:ext>
                </a:extLst>
              </a:tr>
              <a:tr h="1314788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: 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Parameter: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9342947"/>
                  </a:ext>
                </a:extLst>
              </a:tr>
              <a:tr h="1289938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: 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Parameter: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4174855"/>
                  </a:ext>
                </a:extLst>
              </a:tr>
              <a:tr h="1289939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: 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Parameter: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0519491"/>
                  </a:ext>
                </a:extLst>
              </a:tr>
              <a:tr h="127361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Syarat</a:t>
                      </a:r>
                      <a:r>
                        <a:rPr lang="en-US" sz="1600" b="1" dirty="0"/>
                        <a:t>: 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Parameter:</a:t>
                      </a:r>
                      <a:endParaRPr lang="en-ID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648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18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9955</TotalTime>
  <Words>1948</Words>
  <Application>Microsoft Office PowerPoint</Application>
  <PresentationFormat>Widescreen</PresentationFormat>
  <Paragraphs>143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Office Theme</vt:lpstr>
      <vt:lpstr>LAPORAN PROGRES TUGAS AKHIR (TA)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fajrul falaq</dc:creator>
  <cp:lastModifiedBy>fajrul falaq</cp:lastModifiedBy>
  <cp:revision>17</cp:revision>
  <dcterms:created xsi:type="dcterms:W3CDTF">2026-01-15T14:09:29Z</dcterms:created>
  <dcterms:modified xsi:type="dcterms:W3CDTF">2026-04-07T11:24:17Z</dcterms:modified>
</cp:coreProperties>
</file>